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4610"/>
  </p:normalViewPr>
  <p:slideViewPr>
    <p:cSldViewPr snapToGrid="0" snapToObjects="1">
      <p:cViewPr>
        <p:scale>
          <a:sx n="66" d="100"/>
          <a:sy n="66" d="100"/>
        </p:scale>
        <p:origin x="1752" y="4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5052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a:effectLst/>
      </p:bgPr>
    </p:bg>
    <p:spTree>
      <p:nvGrpSpPr>
        <p:cNvPr id="1" name=""/>
        <p:cNvGrpSpPr/>
        <p:nvPr/>
      </p:nvGrpSpPr>
      <p:grpSpPr>
        <a:xfrm>
          <a:off x="0" y="0"/>
          <a:ext cx="0" cy="0"/>
          <a:chOff x="0" y="0"/>
          <a:chExt cx="0" cy="0"/>
        </a:xfrm>
      </p:grpSpPr>
      <p:sp>
        <p:nvSpPr>
          <p:cNvPr id="4" name="Text 2"/>
          <p:cNvSpPr/>
          <p:nvPr/>
        </p:nvSpPr>
        <p:spPr>
          <a:xfrm>
            <a:off x="822960" y="1371600"/>
            <a:ext cx="8229600" cy="365760"/>
          </a:xfrm>
          <a:prstGeom prst="rect">
            <a:avLst/>
          </a:prstGeom>
          <a:noFill/>
          <a:ln/>
        </p:spPr>
        <p:txBody>
          <a:bodyPr wrap="square" rtlCol="0" anchor="ctr"/>
          <a:lstStyle/>
          <a:p>
            <a:pPr marL="0" indent="0">
              <a:buNone/>
            </a:pPr>
            <a:r>
              <a:rPr lang="en-US" sz="1400" b="1" kern="0" spc="200" dirty="0">
                <a:solidFill>
                  <a:srgbClr val="5FD0CE"/>
                </a:solidFill>
                <a:latin typeface="Calibri" pitchFamily="34" charset="0"/>
                <a:ea typeface="Calibri" pitchFamily="34" charset="-122"/>
                <a:cs typeface="Calibri" pitchFamily="34" charset="-120"/>
              </a:rPr>
              <a:t>MINI PROJECT  •  REACT FRONT-END ENGINEERING</a:t>
            </a:r>
            <a:endParaRPr lang="en-US" sz="1400" dirty="0"/>
          </a:p>
        </p:txBody>
      </p:sp>
      <p:sp>
        <p:nvSpPr>
          <p:cNvPr id="5" name="Text 3"/>
          <p:cNvSpPr/>
          <p:nvPr/>
        </p:nvSpPr>
        <p:spPr>
          <a:xfrm>
            <a:off x="777240" y="1783080"/>
            <a:ext cx="9144000" cy="1188720"/>
          </a:xfrm>
          <a:prstGeom prst="rect">
            <a:avLst/>
          </a:prstGeom>
          <a:noFill/>
          <a:ln/>
        </p:spPr>
        <p:txBody>
          <a:bodyPr wrap="square" rtlCol="0" anchor="ctr"/>
          <a:lstStyle/>
          <a:p>
            <a:pPr marL="0" indent="0">
              <a:buNone/>
            </a:pPr>
            <a:r>
              <a:rPr lang="en-US" sz="5800" b="1" dirty="0">
                <a:solidFill>
                  <a:srgbClr val="FFFFFF"/>
                </a:solidFill>
                <a:latin typeface="Cambria" pitchFamily="34" charset="0"/>
                <a:ea typeface="Cambria" pitchFamily="34" charset="-122"/>
                <a:cs typeface="Cambria" pitchFamily="34" charset="-120"/>
              </a:rPr>
              <a:t>PharmaStock</a:t>
            </a:r>
            <a:endParaRPr lang="en-US" sz="5800" dirty="0"/>
          </a:p>
        </p:txBody>
      </p:sp>
      <p:sp>
        <p:nvSpPr>
          <p:cNvPr id="6" name="Text 4"/>
          <p:cNvSpPr/>
          <p:nvPr/>
        </p:nvSpPr>
        <p:spPr>
          <a:xfrm>
            <a:off x="822960" y="2880360"/>
            <a:ext cx="8686800" cy="548640"/>
          </a:xfrm>
          <a:prstGeom prst="rect">
            <a:avLst/>
          </a:prstGeom>
          <a:noFill/>
          <a:ln/>
        </p:spPr>
        <p:txBody>
          <a:bodyPr wrap="square" rtlCol="0" anchor="ctr"/>
          <a:lstStyle/>
          <a:p>
            <a:pPr marL="0" indent="0">
              <a:buNone/>
            </a:pPr>
            <a:r>
              <a:rPr lang="en-US" sz="1800" i="1" dirty="0">
                <a:solidFill>
                  <a:srgbClr val="C9D6E3"/>
                </a:solidFill>
                <a:latin typeface="Calibri" pitchFamily="34" charset="0"/>
                <a:ea typeface="Calibri" pitchFamily="34" charset="-122"/>
                <a:cs typeface="Calibri" pitchFamily="34" charset="-120"/>
              </a:rPr>
              <a:t>A Pharmacy Medicine Inventory Tracker built with React</a:t>
            </a:r>
            <a:endParaRPr lang="en-US" sz="1800" dirty="0"/>
          </a:p>
        </p:txBody>
      </p:sp>
      <p:sp>
        <p:nvSpPr>
          <p:cNvPr id="7" name="Shape 5"/>
          <p:cNvSpPr/>
          <p:nvPr/>
        </p:nvSpPr>
        <p:spPr>
          <a:xfrm>
            <a:off x="822960" y="3977640"/>
            <a:ext cx="6035040" cy="1783080"/>
          </a:xfrm>
          <a:prstGeom prst="roundRect">
            <a:avLst>
              <a:gd name="adj" fmla="val 6154"/>
            </a:avLst>
          </a:prstGeom>
          <a:solidFill>
            <a:srgbClr val="111E3D"/>
          </a:solidFill>
          <a:ln w="12700">
            <a:solidFill>
              <a:srgbClr val="26395F"/>
            </a:solidFill>
            <a:prstDash val="solid"/>
          </a:ln>
        </p:spPr>
      </p:sp>
      <p:sp>
        <p:nvSpPr>
          <p:cNvPr id="8" name="Text 6"/>
          <p:cNvSpPr/>
          <p:nvPr/>
        </p:nvSpPr>
        <p:spPr>
          <a:xfrm>
            <a:off x="1097280" y="4160520"/>
            <a:ext cx="2743200" cy="274320"/>
          </a:xfrm>
          <a:prstGeom prst="rect">
            <a:avLst/>
          </a:prstGeom>
          <a:noFill/>
          <a:ln/>
        </p:spPr>
        <p:txBody>
          <a:bodyPr wrap="square" rtlCol="0" anchor="ctr"/>
          <a:lstStyle/>
          <a:p>
            <a:pPr marL="0" indent="0">
              <a:buNone/>
            </a:pPr>
            <a:r>
              <a:rPr lang="en-US" sz="1200" b="1" kern="0" spc="200" dirty="0">
                <a:solidFill>
                  <a:srgbClr val="5FD0CE"/>
                </a:solidFill>
                <a:latin typeface="Calibri" pitchFamily="34" charset="0"/>
                <a:ea typeface="Calibri" pitchFamily="34" charset="-122"/>
                <a:cs typeface="Calibri" pitchFamily="34" charset="-120"/>
              </a:rPr>
              <a:t>TEAM</a:t>
            </a:r>
            <a:endParaRPr lang="en-US" sz="1200" dirty="0"/>
          </a:p>
        </p:txBody>
      </p:sp>
      <p:sp>
        <p:nvSpPr>
          <p:cNvPr id="9" name="Text 7"/>
          <p:cNvSpPr/>
          <p:nvPr/>
        </p:nvSpPr>
        <p:spPr>
          <a:xfrm>
            <a:off x="1097280" y="4480560"/>
            <a:ext cx="5486400" cy="1188720"/>
          </a:xfrm>
          <a:prstGeom prst="rect">
            <a:avLst/>
          </a:prstGeom>
          <a:noFill/>
          <a:ln/>
        </p:spPr>
        <p:txBody>
          <a:bodyPr wrap="square" rtlCol="0" anchor="ctr"/>
          <a:lstStyle/>
          <a:p>
            <a:pPr marL="0" indent="0">
              <a:lnSpc>
                <a:spcPct val="140000"/>
              </a:lnSpc>
              <a:buNone/>
            </a:pPr>
            <a:r>
              <a:rPr lang="en-US" sz="1400" dirty="0">
                <a:solidFill>
                  <a:srgbClr val="8FA2C0"/>
                </a:solidFill>
                <a:latin typeface="Calibri" pitchFamily="34" charset="0"/>
                <a:ea typeface="Calibri" pitchFamily="34" charset="-122"/>
                <a:cs typeface="Calibri" pitchFamily="34" charset="-120"/>
              </a:rPr>
              <a:t>2520040008  </a:t>
            </a:r>
            <a:r>
              <a:rPr lang="en-US" sz="1600" b="1" dirty="0">
                <a:solidFill>
                  <a:srgbClr val="FFFFFF"/>
                </a:solidFill>
                <a:latin typeface="Calibri" pitchFamily="34" charset="0"/>
                <a:ea typeface="Calibri" pitchFamily="34" charset="-122"/>
                <a:cs typeface="Calibri" pitchFamily="34" charset="-120"/>
              </a:rPr>
              <a:t>S. Tejitha</a:t>
            </a:r>
            <a:endParaRPr lang="en-US" sz="1400" dirty="0"/>
          </a:p>
          <a:p>
            <a:pPr marL="0" indent="0">
              <a:lnSpc>
                <a:spcPct val="140000"/>
              </a:lnSpc>
              <a:buNone/>
            </a:pPr>
            <a:r>
              <a:rPr lang="en-US" sz="1400" dirty="0">
                <a:solidFill>
                  <a:srgbClr val="8FA2C0"/>
                </a:solidFill>
                <a:latin typeface="Calibri" pitchFamily="34" charset="0"/>
                <a:ea typeface="Calibri" pitchFamily="34" charset="-122"/>
                <a:cs typeface="Calibri" pitchFamily="34" charset="-120"/>
              </a:rPr>
              <a:t>2520040011  </a:t>
            </a:r>
            <a:r>
              <a:rPr lang="en-US" sz="1600" b="1" dirty="0">
                <a:solidFill>
                  <a:srgbClr val="FFFFFF"/>
                </a:solidFill>
                <a:latin typeface="Calibri" pitchFamily="34" charset="0"/>
                <a:ea typeface="Calibri" pitchFamily="34" charset="-122"/>
                <a:cs typeface="Calibri" pitchFamily="34" charset="-120"/>
              </a:rPr>
              <a:t>K. Harini</a:t>
            </a:r>
            <a:endParaRPr lang="en-US" sz="1400" dirty="0"/>
          </a:p>
        </p:txBody>
      </p:sp>
      <p:sp>
        <p:nvSpPr>
          <p:cNvPr id="10" name="Text 8"/>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23262B"/>
                </a:solidFill>
                <a:latin typeface="Cambria" pitchFamily="34" charset="0"/>
                <a:ea typeface="Cambria" pitchFamily="34" charset="-122"/>
                <a:cs typeface="Cambria" pitchFamily="34" charset="-120"/>
              </a:rPr>
              <a:t>What is PharmaStock?</a:t>
            </a:r>
            <a:endParaRPr lang="en-US" sz="3200" dirty="0"/>
          </a:p>
        </p:txBody>
      </p:sp>
      <p:sp>
        <p:nvSpPr>
          <p:cNvPr id="4" name="Text 2"/>
          <p:cNvSpPr/>
          <p:nvPr/>
        </p:nvSpPr>
        <p:spPr>
          <a:xfrm>
            <a:off x="548640" y="1645920"/>
            <a:ext cx="5852160" cy="1188720"/>
          </a:xfrm>
          <a:prstGeom prst="rect">
            <a:avLst/>
          </a:prstGeom>
          <a:noFill/>
          <a:ln/>
        </p:spPr>
        <p:txBody>
          <a:bodyPr wrap="square" rtlCol="0" anchor="ctr"/>
          <a:lstStyle/>
          <a:p>
            <a:pPr marL="0" indent="0">
              <a:lnSpc>
                <a:spcPct val="130000"/>
              </a:lnSpc>
              <a:buNone/>
            </a:pPr>
            <a:r>
              <a:rPr lang="en-US" sz="1600" dirty="0">
                <a:solidFill>
                  <a:srgbClr val="23262B"/>
                </a:solidFill>
                <a:latin typeface="Calibri" pitchFamily="34" charset="0"/>
                <a:ea typeface="Calibri" pitchFamily="34" charset="-122"/>
                <a:cs typeface="Calibri" pitchFamily="34" charset="-120"/>
              </a:rPr>
              <a:t>PharmaStock is a web application we built to help a small pharmacy keep track of its medicine stock from one place, instead of relying on registers and memory.</a:t>
            </a:r>
            <a:endParaRPr lang="en-US" sz="1600" dirty="0"/>
          </a:p>
        </p:txBody>
      </p:sp>
      <p:sp>
        <p:nvSpPr>
          <p:cNvPr id="5" name="Text 3"/>
          <p:cNvSpPr/>
          <p:nvPr/>
        </p:nvSpPr>
        <p:spPr>
          <a:xfrm>
            <a:off x="548640" y="2926080"/>
            <a:ext cx="5852160" cy="1280160"/>
          </a:xfrm>
          <a:prstGeom prst="rect">
            <a:avLst/>
          </a:prstGeom>
          <a:noFill/>
          <a:ln/>
        </p:spPr>
        <p:txBody>
          <a:bodyPr wrap="square" rtlCol="0" anchor="ctr"/>
          <a:lstStyle/>
          <a:p>
            <a:pPr marL="0" indent="0">
              <a:lnSpc>
                <a:spcPct val="130000"/>
              </a:lnSpc>
              <a:buNone/>
            </a:pPr>
            <a:r>
              <a:rPr lang="en-US" sz="1600" dirty="0">
                <a:solidFill>
                  <a:srgbClr val="23262B"/>
                </a:solidFill>
                <a:latin typeface="Calibri" pitchFamily="34" charset="0"/>
                <a:ea typeface="Calibri" pitchFamily="34" charset="-122"/>
                <a:cs typeface="Calibri" pitchFamily="34" charset="-120"/>
              </a:rPr>
              <a:t>It's built entirely with React on the front end, using React Router for navigation between modules, and Recharts for visualizing stock trends. It currently runs on local/mock data, with the structure ready to plug into a real backend later.</a:t>
            </a:r>
            <a:endParaRPr lang="en-US" sz="1600" dirty="0"/>
          </a:p>
        </p:txBody>
      </p:sp>
      <p:sp>
        <p:nvSpPr>
          <p:cNvPr id="6" name="Shape 4"/>
          <p:cNvSpPr/>
          <p:nvPr/>
        </p:nvSpPr>
        <p:spPr>
          <a:xfrm>
            <a:off x="6614162" y="246888"/>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7" name="Shape 5"/>
          <p:cNvSpPr/>
          <p:nvPr/>
        </p:nvSpPr>
        <p:spPr>
          <a:xfrm>
            <a:off x="6851906" y="402336"/>
            <a:ext cx="256032" cy="256032"/>
          </a:xfrm>
          <a:prstGeom prst="ellipse">
            <a:avLst/>
          </a:prstGeom>
          <a:solidFill>
            <a:srgbClr val="0E7C7B"/>
          </a:solidFill>
          <a:ln/>
        </p:spPr>
      </p:sp>
      <p:sp>
        <p:nvSpPr>
          <p:cNvPr id="8" name="Text 6"/>
          <p:cNvSpPr/>
          <p:nvPr/>
        </p:nvSpPr>
        <p:spPr>
          <a:xfrm>
            <a:off x="7299962" y="246888"/>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Dashboard</a:t>
            </a:r>
            <a:endParaRPr lang="en-US" sz="1500" dirty="0"/>
          </a:p>
        </p:txBody>
      </p:sp>
      <p:sp>
        <p:nvSpPr>
          <p:cNvPr id="9" name="Shape 7"/>
          <p:cNvSpPr/>
          <p:nvPr/>
        </p:nvSpPr>
        <p:spPr>
          <a:xfrm>
            <a:off x="6614162" y="978408"/>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10" name="Shape 8"/>
          <p:cNvSpPr/>
          <p:nvPr/>
        </p:nvSpPr>
        <p:spPr>
          <a:xfrm>
            <a:off x="6851906" y="1133856"/>
            <a:ext cx="256032" cy="256032"/>
          </a:xfrm>
          <a:prstGeom prst="ellipse">
            <a:avLst/>
          </a:prstGeom>
          <a:solidFill>
            <a:srgbClr val="0E7C7B"/>
          </a:solidFill>
          <a:ln/>
        </p:spPr>
      </p:sp>
      <p:sp>
        <p:nvSpPr>
          <p:cNvPr id="11" name="Text 9"/>
          <p:cNvSpPr/>
          <p:nvPr/>
        </p:nvSpPr>
        <p:spPr>
          <a:xfrm>
            <a:off x="7299962" y="978408"/>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Stock List</a:t>
            </a:r>
            <a:endParaRPr lang="en-US" sz="1500" dirty="0"/>
          </a:p>
        </p:txBody>
      </p:sp>
      <p:sp>
        <p:nvSpPr>
          <p:cNvPr id="12" name="Shape 10"/>
          <p:cNvSpPr/>
          <p:nvPr/>
        </p:nvSpPr>
        <p:spPr>
          <a:xfrm>
            <a:off x="6614162" y="1709928"/>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13" name="Shape 11"/>
          <p:cNvSpPr/>
          <p:nvPr/>
        </p:nvSpPr>
        <p:spPr>
          <a:xfrm>
            <a:off x="6851906" y="1865376"/>
            <a:ext cx="256032" cy="256032"/>
          </a:xfrm>
          <a:prstGeom prst="ellipse">
            <a:avLst/>
          </a:prstGeom>
          <a:solidFill>
            <a:srgbClr val="0E7C7B"/>
          </a:solidFill>
          <a:ln/>
        </p:spPr>
      </p:sp>
      <p:sp>
        <p:nvSpPr>
          <p:cNvPr id="14" name="Text 12"/>
          <p:cNvSpPr/>
          <p:nvPr/>
        </p:nvSpPr>
        <p:spPr>
          <a:xfrm>
            <a:off x="7299962" y="1709928"/>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Expiry Alerts</a:t>
            </a:r>
            <a:endParaRPr lang="en-US" sz="1500" dirty="0"/>
          </a:p>
        </p:txBody>
      </p:sp>
      <p:sp>
        <p:nvSpPr>
          <p:cNvPr id="15" name="Shape 13"/>
          <p:cNvSpPr/>
          <p:nvPr/>
        </p:nvSpPr>
        <p:spPr>
          <a:xfrm>
            <a:off x="6614162" y="2441448"/>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16" name="Shape 14"/>
          <p:cNvSpPr/>
          <p:nvPr/>
        </p:nvSpPr>
        <p:spPr>
          <a:xfrm>
            <a:off x="6851906" y="2596896"/>
            <a:ext cx="256032" cy="256032"/>
          </a:xfrm>
          <a:prstGeom prst="ellipse">
            <a:avLst/>
          </a:prstGeom>
          <a:solidFill>
            <a:srgbClr val="0E7C7B"/>
          </a:solidFill>
          <a:ln/>
        </p:spPr>
      </p:sp>
      <p:sp>
        <p:nvSpPr>
          <p:cNvPr id="17" name="Text 15"/>
          <p:cNvSpPr/>
          <p:nvPr/>
        </p:nvSpPr>
        <p:spPr>
          <a:xfrm>
            <a:off x="7299962" y="2441448"/>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Supplier Orders</a:t>
            </a:r>
            <a:endParaRPr lang="en-US" sz="1500" dirty="0"/>
          </a:p>
        </p:txBody>
      </p:sp>
      <p:sp>
        <p:nvSpPr>
          <p:cNvPr id="18" name="Shape 16"/>
          <p:cNvSpPr/>
          <p:nvPr/>
        </p:nvSpPr>
        <p:spPr>
          <a:xfrm>
            <a:off x="6614162" y="3172968"/>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19" name="Shape 17"/>
          <p:cNvSpPr/>
          <p:nvPr/>
        </p:nvSpPr>
        <p:spPr>
          <a:xfrm>
            <a:off x="6851906" y="3328416"/>
            <a:ext cx="256032" cy="256032"/>
          </a:xfrm>
          <a:prstGeom prst="ellipse">
            <a:avLst/>
          </a:prstGeom>
          <a:solidFill>
            <a:srgbClr val="0E7C7B"/>
          </a:solidFill>
          <a:ln/>
        </p:spPr>
      </p:sp>
      <p:sp>
        <p:nvSpPr>
          <p:cNvPr id="20" name="Text 18"/>
          <p:cNvSpPr/>
          <p:nvPr/>
        </p:nvSpPr>
        <p:spPr>
          <a:xfrm>
            <a:off x="7299962" y="3172968"/>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Analytics</a:t>
            </a:r>
            <a:endParaRPr lang="en-US" sz="1500" dirty="0"/>
          </a:p>
        </p:txBody>
      </p:sp>
      <p:sp>
        <p:nvSpPr>
          <p:cNvPr id="21" name="Shape 19"/>
          <p:cNvSpPr/>
          <p:nvPr/>
        </p:nvSpPr>
        <p:spPr>
          <a:xfrm>
            <a:off x="6614162" y="3904488"/>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22" name="Shape 20"/>
          <p:cNvSpPr/>
          <p:nvPr/>
        </p:nvSpPr>
        <p:spPr>
          <a:xfrm>
            <a:off x="6851906" y="4059936"/>
            <a:ext cx="256032" cy="256032"/>
          </a:xfrm>
          <a:prstGeom prst="ellipse">
            <a:avLst/>
          </a:prstGeom>
          <a:solidFill>
            <a:srgbClr val="0E7C7B"/>
          </a:solidFill>
          <a:ln/>
        </p:spPr>
      </p:sp>
      <p:sp>
        <p:nvSpPr>
          <p:cNvPr id="23" name="Text 21"/>
          <p:cNvSpPr/>
          <p:nvPr/>
        </p:nvSpPr>
        <p:spPr>
          <a:xfrm>
            <a:off x="7299962" y="3904488"/>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Admin Panel</a:t>
            </a:r>
            <a:endParaRPr lang="en-US" sz="1500" dirty="0"/>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2</a:t>
            </a:r>
            <a:endParaRPr lang="en-US" sz="1100" dirty="0"/>
          </a:p>
        </p:txBody>
      </p:sp>
      <p:sp>
        <p:nvSpPr>
          <p:cNvPr id="26" name="Shape 10">
            <a:extLst>
              <a:ext uri="{FF2B5EF4-FFF2-40B4-BE49-F238E27FC236}">
                <a16:creationId xmlns:a16="http://schemas.microsoft.com/office/drawing/2014/main" id="{DFBB049C-CA86-EFF1-EC94-19F8A188C8AE}"/>
              </a:ext>
            </a:extLst>
          </p:cNvPr>
          <p:cNvSpPr/>
          <p:nvPr/>
        </p:nvSpPr>
        <p:spPr>
          <a:xfrm>
            <a:off x="6614162" y="4581144"/>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27" name="Shape 11">
            <a:extLst>
              <a:ext uri="{FF2B5EF4-FFF2-40B4-BE49-F238E27FC236}">
                <a16:creationId xmlns:a16="http://schemas.microsoft.com/office/drawing/2014/main" id="{880ADF2E-B9F7-586A-82AC-3FC4D29B0EC5}"/>
              </a:ext>
            </a:extLst>
          </p:cNvPr>
          <p:cNvSpPr/>
          <p:nvPr/>
        </p:nvSpPr>
        <p:spPr>
          <a:xfrm>
            <a:off x="6851906" y="4736592"/>
            <a:ext cx="256032" cy="256032"/>
          </a:xfrm>
          <a:prstGeom prst="ellipse">
            <a:avLst/>
          </a:prstGeom>
          <a:solidFill>
            <a:srgbClr val="0E7C7B"/>
          </a:solidFill>
          <a:ln/>
        </p:spPr>
      </p:sp>
      <p:sp>
        <p:nvSpPr>
          <p:cNvPr id="28" name="Text 12">
            <a:extLst>
              <a:ext uri="{FF2B5EF4-FFF2-40B4-BE49-F238E27FC236}">
                <a16:creationId xmlns:a16="http://schemas.microsoft.com/office/drawing/2014/main" id="{20665D7C-D874-83A1-A84E-7272CC9D1178}"/>
              </a:ext>
            </a:extLst>
          </p:cNvPr>
          <p:cNvSpPr/>
          <p:nvPr/>
        </p:nvSpPr>
        <p:spPr>
          <a:xfrm>
            <a:off x="7299962" y="4581144"/>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Expiry Alerts</a:t>
            </a:r>
            <a:endParaRPr lang="en-US" sz="1500" dirty="0"/>
          </a:p>
        </p:txBody>
      </p:sp>
      <p:sp>
        <p:nvSpPr>
          <p:cNvPr id="29" name="Shape 13">
            <a:extLst>
              <a:ext uri="{FF2B5EF4-FFF2-40B4-BE49-F238E27FC236}">
                <a16:creationId xmlns:a16="http://schemas.microsoft.com/office/drawing/2014/main" id="{71B42E41-66C9-D4F8-FB4C-886047479C0C}"/>
              </a:ext>
            </a:extLst>
          </p:cNvPr>
          <p:cNvSpPr/>
          <p:nvPr/>
        </p:nvSpPr>
        <p:spPr>
          <a:xfrm>
            <a:off x="6614162" y="5312664"/>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30" name="Shape 14">
            <a:extLst>
              <a:ext uri="{FF2B5EF4-FFF2-40B4-BE49-F238E27FC236}">
                <a16:creationId xmlns:a16="http://schemas.microsoft.com/office/drawing/2014/main" id="{1F7447E7-6A93-EBFD-4800-0AF90156AC50}"/>
              </a:ext>
            </a:extLst>
          </p:cNvPr>
          <p:cNvSpPr/>
          <p:nvPr/>
        </p:nvSpPr>
        <p:spPr>
          <a:xfrm>
            <a:off x="6851906" y="5468112"/>
            <a:ext cx="256032" cy="256032"/>
          </a:xfrm>
          <a:prstGeom prst="ellipse">
            <a:avLst/>
          </a:prstGeom>
          <a:solidFill>
            <a:srgbClr val="0E7C7B"/>
          </a:solidFill>
          <a:ln/>
        </p:spPr>
      </p:sp>
      <p:sp>
        <p:nvSpPr>
          <p:cNvPr id="31" name="Text 15">
            <a:extLst>
              <a:ext uri="{FF2B5EF4-FFF2-40B4-BE49-F238E27FC236}">
                <a16:creationId xmlns:a16="http://schemas.microsoft.com/office/drawing/2014/main" id="{1D3E8C36-3F23-4CC6-A22A-6DE3197C5AFA}"/>
              </a:ext>
            </a:extLst>
          </p:cNvPr>
          <p:cNvSpPr/>
          <p:nvPr/>
        </p:nvSpPr>
        <p:spPr>
          <a:xfrm>
            <a:off x="7299962" y="5312664"/>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Supplier Orders</a:t>
            </a:r>
            <a:endParaRPr lang="en-US" sz="1500" dirty="0"/>
          </a:p>
        </p:txBody>
      </p:sp>
      <p:sp>
        <p:nvSpPr>
          <p:cNvPr id="32" name="Shape 16">
            <a:extLst>
              <a:ext uri="{FF2B5EF4-FFF2-40B4-BE49-F238E27FC236}">
                <a16:creationId xmlns:a16="http://schemas.microsoft.com/office/drawing/2014/main" id="{D014B5BC-689D-5BDB-67A0-DE8AB05A49C6}"/>
              </a:ext>
            </a:extLst>
          </p:cNvPr>
          <p:cNvSpPr/>
          <p:nvPr/>
        </p:nvSpPr>
        <p:spPr>
          <a:xfrm>
            <a:off x="6614162" y="6044184"/>
            <a:ext cx="4754880" cy="566928"/>
          </a:xfrm>
          <a:prstGeom prst="roundRect">
            <a:avLst>
              <a:gd name="adj" fmla="val 12903"/>
            </a:avLst>
          </a:prstGeom>
          <a:solidFill>
            <a:srgbClr val="F7F9FA"/>
          </a:solidFill>
          <a:ln/>
          <a:effectLst>
            <a:outerShdw blurRad="50800" dist="12700" dir="5400000" algn="bl" rotWithShape="0">
              <a:srgbClr val="000000">
                <a:alpha val="8000"/>
              </a:srgbClr>
            </a:outerShdw>
          </a:effectLst>
        </p:spPr>
      </p:sp>
      <p:sp>
        <p:nvSpPr>
          <p:cNvPr id="33" name="Shape 17">
            <a:extLst>
              <a:ext uri="{FF2B5EF4-FFF2-40B4-BE49-F238E27FC236}">
                <a16:creationId xmlns:a16="http://schemas.microsoft.com/office/drawing/2014/main" id="{08931F8E-9B39-66B4-B808-8AC13B55D9DF}"/>
              </a:ext>
            </a:extLst>
          </p:cNvPr>
          <p:cNvSpPr/>
          <p:nvPr/>
        </p:nvSpPr>
        <p:spPr>
          <a:xfrm>
            <a:off x="6851906" y="6199632"/>
            <a:ext cx="256032" cy="256032"/>
          </a:xfrm>
          <a:prstGeom prst="ellipse">
            <a:avLst/>
          </a:prstGeom>
          <a:solidFill>
            <a:srgbClr val="0E7C7B"/>
          </a:solidFill>
          <a:ln/>
        </p:spPr>
      </p:sp>
      <p:sp>
        <p:nvSpPr>
          <p:cNvPr id="34" name="Text 18">
            <a:extLst>
              <a:ext uri="{FF2B5EF4-FFF2-40B4-BE49-F238E27FC236}">
                <a16:creationId xmlns:a16="http://schemas.microsoft.com/office/drawing/2014/main" id="{1FA86E48-7F49-B0BB-8D67-9304162E07E9}"/>
              </a:ext>
            </a:extLst>
          </p:cNvPr>
          <p:cNvSpPr/>
          <p:nvPr/>
        </p:nvSpPr>
        <p:spPr>
          <a:xfrm>
            <a:off x="7299962" y="6044184"/>
            <a:ext cx="3840480" cy="566928"/>
          </a:xfrm>
          <a:prstGeom prst="rect">
            <a:avLst/>
          </a:prstGeom>
          <a:noFill/>
          <a:ln/>
        </p:spPr>
        <p:txBody>
          <a:bodyPr wrap="square" rtlCol="0" anchor="ctr"/>
          <a:lstStyle/>
          <a:p>
            <a:pPr marL="0" indent="0">
              <a:buNone/>
            </a:pPr>
            <a:r>
              <a:rPr lang="en-US" sz="1500" b="1" dirty="0">
                <a:solidFill>
                  <a:srgbClr val="23262B"/>
                </a:solidFill>
                <a:latin typeface="Calibri" pitchFamily="34" charset="0"/>
                <a:ea typeface="Calibri" pitchFamily="34" charset="-122"/>
                <a:cs typeface="Calibri" pitchFamily="34" charset="-120"/>
              </a:rPr>
              <a:t>Analytics</a:t>
            </a:r>
            <a:endParaRPr lang="en-US" sz="1500" dirty="0"/>
          </a:p>
        </p:txBody>
      </p:sp>
      <p:sp>
        <p:nvSpPr>
          <p:cNvPr id="37" name="Text 21">
            <a:extLst>
              <a:ext uri="{FF2B5EF4-FFF2-40B4-BE49-F238E27FC236}">
                <a16:creationId xmlns:a16="http://schemas.microsoft.com/office/drawing/2014/main" id="{A02DBE68-3A85-0CD7-01C1-489D3AA62586}"/>
              </a:ext>
            </a:extLst>
          </p:cNvPr>
          <p:cNvSpPr/>
          <p:nvPr/>
        </p:nvSpPr>
        <p:spPr>
          <a:xfrm>
            <a:off x="7315200" y="6647688"/>
            <a:ext cx="3840480" cy="566928"/>
          </a:xfrm>
          <a:prstGeom prst="rect">
            <a:avLst/>
          </a:prstGeom>
          <a:noFill/>
          <a:ln/>
        </p:spPr>
        <p:txBody>
          <a:bodyPr wrap="square" rtlCol="0" anchor="ctr"/>
          <a:lstStyle/>
          <a:p>
            <a:pPr marL="0" indent="0">
              <a:buNone/>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23262B"/>
                </a:solidFill>
                <a:latin typeface="Cambria" pitchFamily="34" charset="0"/>
                <a:ea typeface="Cambria" pitchFamily="34" charset="-122"/>
                <a:cs typeface="Cambria" pitchFamily="34" charset="-120"/>
              </a:rPr>
              <a:t>Why pharmacies need this</a:t>
            </a:r>
            <a:endParaRPr lang="en-US" sz="3200" dirty="0"/>
          </a:p>
        </p:txBody>
      </p:sp>
      <p:sp>
        <p:nvSpPr>
          <p:cNvPr id="4" name="Shape 2"/>
          <p:cNvSpPr/>
          <p:nvPr/>
        </p:nvSpPr>
        <p:spPr>
          <a:xfrm>
            <a:off x="548640" y="1691640"/>
            <a:ext cx="5349240" cy="1965960"/>
          </a:xfrm>
          <a:prstGeom prst="roundRect">
            <a:avLst>
              <a:gd name="adj" fmla="val 4651"/>
            </a:avLst>
          </a:prstGeom>
          <a:solidFill>
            <a:srgbClr val="F7F9FA"/>
          </a:solidFill>
          <a:ln/>
          <a:effectLst>
            <a:outerShdw blurRad="63500" dist="25400" dir="5400000" algn="bl" rotWithShape="0">
              <a:srgbClr val="000000">
                <a:alpha val="8000"/>
              </a:srgbClr>
            </a:outerShdw>
          </a:effectLst>
        </p:spPr>
      </p:sp>
      <p:sp>
        <p:nvSpPr>
          <p:cNvPr id="5" name="Shape 3"/>
          <p:cNvSpPr/>
          <p:nvPr/>
        </p:nvSpPr>
        <p:spPr>
          <a:xfrm>
            <a:off x="777240" y="1920240"/>
            <a:ext cx="457200" cy="457200"/>
          </a:xfrm>
          <a:prstGeom prst="ellipse">
            <a:avLst/>
          </a:prstGeom>
          <a:solidFill>
            <a:srgbClr val="FCE4E4"/>
          </a:solidFill>
          <a:ln/>
        </p:spPr>
      </p:sp>
      <p:sp>
        <p:nvSpPr>
          <p:cNvPr id="6" name="Text 4"/>
          <p:cNvSpPr/>
          <p:nvPr/>
        </p:nvSpPr>
        <p:spPr>
          <a:xfrm>
            <a:off x="777240" y="1920240"/>
            <a:ext cx="457200" cy="457200"/>
          </a:xfrm>
          <a:prstGeom prst="rect">
            <a:avLst/>
          </a:prstGeom>
          <a:noFill/>
          <a:ln/>
        </p:spPr>
        <p:txBody>
          <a:bodyPr wrap="square" rtlCol="0" anchor="ctr"/>
          <a:lstStyle/>
          <a:p>
            <a:pPr marL="0" indent="0" algn="ctr">
              <a:buNone/>
            </a:pPr>
            <a:r>
              <a:rPr lang="en-US" sz="1800" b="1" dirty="0">
                <a:solidFill>
                  <a:srgbClr val="C53030"/>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554480" y="1947672"/>
            <a:ext cx="4160520" cy="457200"/>
          </a:xfrm>
          <a:prstGeom prst="rect">
            <a:avLst/>
          </a:prstGeom>
          <a:noFill/>
          <a:ln/>
        </p:spPr>
        <p:txBody>
          <a:bodyPr wrap="square" rtlCol="0" anchor="ctr"/>
          <a:lstStyle/>
          <a:p>
            <a:pPr marL="0" indent="0">
              <a:buNone/>
            </a:pPr>
            <a:r>
              <a:rPr lang="en-US" sz="1600" b="1" dirty="0">
                <a:solidFill>
                  <a:srgbClr val="23262B"/>
                </a:solidFill>
                <a:latin typeface="Calibri" pitchFamily="34" charset="0"/>
                <a:ea typeface="Calibri" pitchFamily="34" charset="-122"/>
                <a:cs typeface="Calibri" pitchFamily="34" charset="-120"/>
              </a:rPr>
              <a:t>Manual stock tracking</a:t>
            </a:r>
            <a:endParaRPr lang="en-US" sz="1600" dirty="0"/>
          </a:p>
        </p:txBody>
      </p:sp>
      <p:sp>
        <p:nvSpPr>
          <p:cNvPr id="8" name="Text 6"/>
          <p:cNvSpPr/>
          <p:nvPr/>
        </p:nvSpPr>
        <p:spPr>
          <a:xfrm>
            <a:off x="1554480" y="2404872"/>
            <a:ext cx="4160520" cy="1097280"/>
          </a:xfrm>
          <a:prstGeom prst="rect">
            <a:avLst/>
          </a:prstGeom>
          <a:noFill/>
          <a:ln/>
        </p:spPr>
        <p:txBody>
          <a:bodyPr wrap="square" rtlCol="0" anchor="ctr"/>
          <a:lstStyle/>
          <a:p>
            <a:pPr marL="0" indent="0">
              <a:lnSpc>
                <a:spcPct val="125000"/>
              </a:lnSpc>
              <a:buNone/>
            </a:pPr>
            <a:r>
              <a:rPr lang="en-US" sz="1350" dirty="0">
                <a:solidFill>
                  <a:srgbClr val="6B7280"/>
                </a:solidFill>
                <a:latin typeface="Calibri" pitchFamily="34" charset="0"/>
                <a:ea typeface="Calibri" pitchFamily="34" charset="-122"/>
                <a:cs typeface="Calibri" pitchFamily="34" charset="-120"/>
              </a:rPr>
              <a:t>Stock counts kept in notebooks or spreadsheets go out of date fast and are easy to miscount.</a:t>
            </a:r>
            <a:endParaRPr lang="en-US" sz="1350" dirty="0"/>
          </a:p>
        </p:txBody>
      </p:sp>
      <p:sp>
        <p:nvSpPr>
          <p:cNvPr id="9" name="Shape 7"/>
          <p:cNvSpPr/>
          <p:nvPr/>
        </p:nvSpPr>
        <p:spPr>
          <a:xfrm>
            <a:off x="6355080" y="1691640"/>
            <a:ext cx="5349240" cy="1965960"/>
          </a:xfrm>
          <a:prstGeom prst="roundRect">
            <a:avLst>
              <a:gd name="adj" fmla="val 4651"/>
            </a:avLst>
          </a:prstGeom>
          <a:solidFill>
            <a:srgbClr val="F7F9FA"/>
          </a:solidFill>
          <a:ln/>
          <a:effectLst>
            <a:outerShdw blurRad="63500" dist="25400" dir="5400000" algn="bl" rotWithShape="0">
              <a:srgbClr val="000000">
                <a:alpha val="8000"/>
              </a:srgbClr>
            </a:outerShdw>
          </a:effectLst>
        </p:spPr>
      </p:sp>
      <p:sp>
        <p:nvSpPr>
          <p:cNvPr id="10" name="Shape 8"/>
          <p:cNvSpPr/>
          <p:nvPr/>
        </p:nvSpPr>
        <p:spPr>
          <a:xfrm>
            <a:off x="6583680" y="1920240"/>
            <a:ext cx="457200" cy="457200"/>
          </a:xfrm>
          <a:prstGeom prst="ellipse">
            <a:avLst/>
          </a:prstGeom>
          <a:solidFill>
            <a:srgbClr val="FCE4E4"/>
          </a:solidFill>
          <a:ln/>
        </p:spPr>
      </p:sp>
      <p:sp>
        <p:nvSpPr>
          <p:cNvPr id="11" name="Text 9"/>
          <p:cNvSpPr/>
          <p:nvPr/>
        </p:nvSpPr>
        <p:spPr>
          <a:xfrm>
            <a:off x="6583680" y="1920240"/>
            <a:ext cx="457200" cy="457200"/>
          </a:xfrm>
          <a:prstGeom prst="rect">
            <a:avLst/>
          </a:prstGeom>
          <a:noFill/>
          <a:ln/>
        </p:spPr>
        <p:txBody>
          <a:bodyPr wrap="square" rtlCol="0" anchor="ctr"/>
          <a:lstStyle/>
          <a:p>
            <a:pPr marL="0" indent="0" algn="ctr">
              <a:buNone/>
            </a:pPr>
            <a:r>
              <a:rPr lang="en-US" sz="1800" b="1" dirty="0">
                <a:solidFill>
                  <a:srgbClr val="C53030"/>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360920" y="1947672"/>
            <a:ext cx="4160520" cy="457200"/>
          </a:xfrm>
          <a:prstGeom prst="rect">
            <a:avLst/>
          </a:prstGeom>
          <a:noFill/>
          <a:ln/>
        </p:spPr>
        <p:txBody>
          <a:bodyPr wrap="square" rtlCol="0" anchor="ctr"/>
          <a:lstStyle/>
          <a:p>
            <a:pPr marL="0" indent="0">
              <a:buNone/>
            </a:pPr>
            <a:r>
              <a:rPr lang="en-US" sz="1600" b="1" dirty="0">
                <a:solidFill>
                  <a:srgbClr val="23262B"/>
                </a:solidFill>
                <a:latin typeface="Calibri" pitchFamily="34" charset="0"/>
                <a:ea typeface="Calibri" pitchFamily="34" charset="-122"/>
                <a:cs typeface="Calibri" pitchFamily="34" charset="-120"/>
              </a:rPr>
              <a:t>Missed expiries</a:t>
            </a:r>
            <a:endParaRPr lang="en-US" sz="1600" dirty="0"/>
          </a:p>
        </p:txBody>
      </p:sp>
      <p:sp>
        <p:nvSpPr>
          <p:cNvPr id="13" name="Text 11"/>
          <p:cNvSpPr/>
          <p:nvPr/>
        </p:nvSpPr>
        <p:spPr>
          <a:xfrm>
            <a:off x="7360920" y="2404872"/>
            <a:ext cx="4160520" cy="1097280"/>
          </a:xfrm>
          <a:prstGeom prst="rect">
            <a:avLst/>
          </a:prstGeom>
          <a:noFill/>
          <a:ln/>
        </p:spPr>
        <p:txBody>
          <a:bodyPr wrap="square" rtlCol="0" anchor="ctr"/>
          <a:lstStyle/>
          <a:p>
            <a:pPr marL="0" indent="0">
              <a:lnSpc>
                <a:spcPct val="125000"/>
              </a:lnSpc>
              <a:buNone/>
            </a:pPr>
            <a:r>
              <a:rPr lang="en-US" sz="1350" dirty="0">
                <a:solidFill>
                  <a:srgbClr val="6B7280"/>
                </a:solidFill>
                <a:latin typeface="Calibri" pitchFamily="34" charset="0"/>
                <a:ea typeface="Calibri" pitchFamily="34" charset="-122"/>
                <a:cs typeface="Calibri" pitchFamily="34" charset="-120"/>
              </a:rPr>
              <a:t>Without alerts, expired medicines sit on shelves or get sold by mistake — a real safety risk.</a:t>
            </a:r>
            <a:endParaRPr lang="en-US" sz="1350" dirty="0"/>
          </a:p>
        </p:txBody>
      </p:sp>
      <p:sp>
        <p:nvSpPr>
          <p:cNvPr id="14" name="Shape 12"/>
          <p:cNvSpPr/>
          <p:nvPr/>
        </p:nvSpPr>
        <p:spPr>
          <a:xfrm>
            <a:off x="548640" y="3931920"/>
            <a:ext cx="5349240" cy="1965960"/>
          </a:xfrm>
          <a:prstGeom prst="roundRect">
            <a:avLst>
              <a:gd name="adj" fmla="val 4651"/>
            </a:avLst>
          </a:prstGeom>
          <a:solidFill>
            <a:srgbClr val="F7F9FA"/>
          </a:solidFill>
          <a:ln/>
          <a:effectLst>
            <a:outerShdw blurRad="63500" dist="25400" dir="5400000" algn="bl" rotWithShape="0">
              <a:srgbClr val="000000">
                <a:alpha val="8000"/>
              </a:srgbClr>
            </a:outerShdw>
          </a:effectLst>
        </p:spPr>
      </p:sp>
      <p:sp>
        <p:nvSpPr>
          <p:cNvPr id="15" name="Shape 13"/>
          <p:cNvSpPr/>
          <p:nvPr/>
        </p:nvSpPr>
        <p:spPr>
          <a:xfrm>
            <a:off x="777240" y="4160520"/>
            <a:ext cx="457200" cy="457200"/>
          </a:xfrm>
          <a:prstGeom prst="ellipse">
            <a:avLst/>
          </a:prstGeom>
          <a:solidFill>
            <a:srgbClr val="FCE4E4"/>
          </a:solidFill>
          <a:ln/>
        </p:spPr>
      </p:sp>
      <p:sp>
        <p:nvSpPr>
          <p:cNvPr id="16" name="Text 14"/>
          <p:cNvSpPr/>
          <p:nvPr/>
        </p:nvSpPr>
        <p:spPr>
          <a:xfrm>
            <a:off x="777240" y="4160520"/>
            <a:ext cx="457200" cy="457200"/>
          </a:xfrm>
          <a:prstGeom prst="rect">
            <a:avLst/>
          </a:prstGeom>
          <a:noFill/>
          <a:ln/>
        </p:spPr>
        <p:txBody>
          <a:bodyPr wrap="square" rtlCol="0" anchor="ctr"/>
          <a:lstStyle/>
          <a:p>
            <a:pPr marL="0" indent="0" algn="ctr">
              <a:buNone/>
            </a:pPr>
            <a:r>
              <a:rPr lang="en-US" sz="1800" b="1" dirty="0">
                <a:solidFill>
                  <a:srgbClr val="C53030"/>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554480" y="4187952"/>
            <a:ext cx="4160520" cy="457200"/>
          </a:xfrm>
          <a:prstGeom prst="rect">
            <a:avLst/>
          </a:prstGeom>
          <a:noFill/>
          <a:ln/>
        </p:spPr>
        <p:txBody>
          <a:bodyPr wrap="square" rtlCol="0" anchor="ctr"/>
          <a:lstStyle/>
          <a:p>
            <a:pPr marL="0" indent="0">
              <a:buNone/>
            </a:pPr>
            <a:r>
              <a:rPr lang="en-US" sz="1600" b="1" dirty="0">
                <a:solidFill>
                  <a:srgbClr val="23262B"/>
                </a:solidFill>
                <a:latin typeface="Calibri" pitchFamily="34" charset="0"/>
                <a:ea typeface="Calibri" pitchFamily="34" charset="-122"/>
                <a:cs typeface="Calibri" pitchFamily="34" charset="-120"/>
              </a:rPr>
              <a:t>Reordering happens too late</a:t>
            </a:r>
            <a:endParaRPr lang="en-US" sz="1600" dirty="0"/>
          </a:p>
        </p:txBody>
      </p:sp>
      <p:sp>
        <p:nvSpPr>
          <p:cNvPr id="18" name="Text 16"/>
          <p:cNvSpPr/>
          <p:nvPr/>
        </p:nvSpPr>
        <p:spPr>
          <a:xfrm>
            <a:off x="1554480" y="4645152"/>
            <a:ext cx="4160520" cy="1097280"/>
          </a:xfrm>
          <a:prstGeom prst="rect">
            <a:avLst/>
          </a:prstGeom>
          <a:noFill/>
          <a:ln/>
        </p:spPr>
        <p:txBody>
          <a:bodyPr wrap="square" rtlCol="0" anchor="ctr"/>
          <a:lstStyle/>
          <a:p>
            <a:pPr marL="0" indent="0">
              <a:lnSpc>
                <a:spcPct val="125000"/>
              </a:lnSpc>
              <a:buNone/>
            </a:pPr>
            <a:r>
              <a:rPr lang="en-US" sz="1350" dirty="0">
                <a:solidFill>
                  <a:srgbClr val="6B7280"/>
                </a:solidFill>
                <a:latin typeface="Calibri" pitchFamily="34" charset="0"/>
                <a:ea typeface="Calibri" pitchFamily="34" charset="-122"/>
                <a:cs typeface="Calibri" pitchFamily="34" charset="-120"/>
              </a:rPr>
              <a:t>Staff often notice low stock only after a customer asks, causing avoidable shortages.</a:t>
            </a:r>
            <a:endParaRPr lang="en-US" sz="1350" dirty="0"/>
          </a:p>
        </p:txBody>
      </p:sp>
      <p:sp>
        <p:nvSpPr>
          <p:cNvPr id="19" name="Shape 17"/>
          <p:cNvSpPr/>
          <p:nvPr/>
        </p:nvSpPr>
        <p:spPr>
          <a:xfrm>
            <a:off x="6355080" y="3931920"/>
            <a:ext cx="5349240" cy="1965960"/>
          </a:xfrm>
          <a:prstGeom prst="roundRect">
            <a:avLst>
              <a:gd name="adj" fmla="val 4651"/>
            </a:avLst>
          </a:prstGeom>
          <a:solidFill>
            <a:srgbClr val="F7F9FA"/>
          </a:solidFill>
          <a:ln/>
          <a:effectLst>
            <a:outerShdw blurRad="63500" dist="25400" dir="5400000" algn="bl" rotWithShape="0">
              <a:srgbClr val="000000">
                <a:alpha val="8000"/>
              </a:srgbClr>
            </a:outerShdw>
          </a:effectLst>
        </p:spPr>
      </p:sp>
      <p:sp>
        <p:nvSpPr>
          <p:cNvPr id="20" name="Shape 18"/>
          <p:cNvSpPr/>
          <p:nvPr/>
        </p:nvSpPr>
        <p:spPr>
          <a:xfrm>
            <a:off x="6583680" y="4160520"/>
            <a:ext cx="457200" cy="457200"/>
          </a:xfrm>
          <a:prstGeom prst="ellipse">
            <a:avLst/>
          </a:prstGeom>
          <a:solidFill>
            <a:srgbClr val="FCE4E4"/>
          </a:solidFill>
          <a:ln/>
        </p:spPr>
      </p:sp>
      <p:sp>
        <p:nvSpPr>
          <p:cNvPr id="21" name="Text 19"/>
          <p:cNvSpPr/>
          <p:nvPr/>
        </p:nvSpPr>
        <p:spPr>
          <a:xfrm>
            <a:off x="6583680" y="4160520"/>
            <a:ext cx="457200" cy="457200"/>
          </a:xfrm>
          <a:prstGeom prst="rect">
            <a:avLst/>
          </a:prstGeom>
          <a:noFill/>
          <a:ln/>
        </p:spPr>
        <p:txBody>
          <a:bodyPr wrap="square" rtlCol="0" anchor="ctr"/>
          <a:lstStyle/>
          <a:p>
            <a:pPr marL="0" indent="0" algn="ctr">
              <a:buNone/>
            </a:pPr>
            <a:r>
              <a:rPr lang="en-US" sz="1800" b="1" dirty="0">
                <a:solidFill>
                  <a:srgbClr val="C53030"/>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360920" y="4187952"/>
            <a:ext cx="4160520" cy="457200"/>
          </a:xfrm>
          <a:prstGeom prst="rect">
            <a:avLst/>
          </a:prstGeom>
          <a:noFill/>
          <a:ln/>
        </p:spPr>
        <p:txBody>
          <a:bodyPr wrap="square" rtlCol="0" anchor="ctr"/>
          <a:lstStyle/>
          <a:p>
            <a:pPr marL="0" indent="0">
              <a:buNone/>
            </a:pPr>
            <a:r>
              <a:rPr lang="en-US" sz="1600" b="1" dirty="0">
                <a:solidFill>
                  <a:srgbClr val="23262B"/>
                </a:solidFill>
                <a:latin typeface="Calibri" pitchFamily="34" charset="0"/>
                <a:ea typeface="Calibri" pitchFamily="34" charset="-122"/>
                <a:cs typeface="Calibri" pitchFamily="34" charset="-120"/>
              </a:rPr>
              <a:t>No clear view of sales/dispensing</a:t>
            </a:r>
            <a:endParaRPr lang="en-US" sz="1600" dirty="0"/>
          </a:p>
        </p:txBody>
      </p:sp>
      <p:sp>
        <p:nvSpPr>
          <p:cNvPr id="23" name="Text 21"/>
          <p:cNvSpPr/>
          <p:nvPr/>
        </p:nvSpPr>
        <p:spPr>
          <a:xfrm>
            <a:off x="7360920" y="4645152"/>
            <a:ext cx="4160520" cy="1097280"/>
          </a:xfrm>
          <a:prstGeom prst="rect">
            <a:avLst/>
          </a:prstGeom>
          <a:noFill/>
          <a:ln/>
        </p:spPr>
        <p:txBody>
          <a:bodyPr wrap="square" rtlCol="0" anchor="ctr"/>
          <a:lstStyle/>
          <a:p>
            <a:pPr marL="0" indent="0">
              <a:lnSpc>
                <a:spcPct val="125000"/>
              </a:lnSpc>
              <a:buNone/>
            </a:pPr>
            <a:r>
              <a:rPr lang="en-US" sz="1350" dirty="0">
                <a:solidFill>
                  <a:srgbClr val="6B7280"/>
                </a:solidFill>
                <a:latin typeface="Calibri" pitchFamily="34" charset="0"/>
                <a:ea typeface="Calibri" pitchFamily="34" charset="-122"/>
                <a:cs typeface="Calibri" pitchFamily="34" charset="-120"/>
              </a:rPr>
              <a:t>It's hard to see what's moving fast and what's sitting idle without a dispense log.</a:t>
            </a:r>
            <a:endParaRPr lang="en-US" sz="1350" dirty="0"/>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OUR SOLUTION</a:t>
            </a:r>
            <a:endParaRPr lang="en-US" sz="1300" dirty="0"/>
          </a:p>
        </p:txBody>
      </p:sp>
      <p:sp>
        <p:nvSpPr>
          <p:cNvPr id="3" name="Text 1"/>
          <p:cNvSpPr/>
          <p:nvPr/>
        </p:nvSpPr>
        <p:spPr>
          <a:xfrm>
            <a:off x="548640" y="685800"/>
            <a:ext cx="10515600" cy="731520"/>
          </a:xfrm>
          <a:prstGeom prst="rect">
            <a:avLst/>
          </a:prstGeom>
          <a:noFill/>
          <a:ln/>
        </p:spPr>
        <p:txBody>
          <a:bodyPr wrap="square" rtlCol="0" anchor="ctr"/>
          <a:lstStyle/>
          <a:p>
            <a:pPr marL="0" indent="0">
              <a:buNone/>
            </a:pPr>
            <a:r>
              <a:rPr lang="en-US" sz="3200" b="1" dirty="0">
                <a:solidFill>
                  <a:srgbClr val="23262B"/>
                </a:solidFill>
                <a:latin typeface="Cambria" pitchFamily="34" charset="0"/>
                <a:ea typeface="Cambria" pitchFamily="34" charset="-122"/>
                <a:cs typeface="Cambria" pitchFamily="34" charset="-120"/>
              </a:rPr>
              <a:t>How PharmaStock solves it</a:t>
            </a:r>
            <a:endParaRPr lang="en-US" sz="3200" dirty="0"/>
          </a:p>
        </p:txBody>
      </p:sp>
      <p:sp>
        <p:nvSpPr>
          <p:cNvPr id="4" name="Text 2"/>
          <p:cNvSpPr/>
          <p:nvPr/>
        </p:nvSpPr>
        <p:spPr>
          <a:xfrm>
            <a:off x="548640" y="1600200"/>
            <a:ext cx="10789920" cy="640080"/>
          </a:xfrm>
          <a:prstGeom prst="rect">
            <a:avLst/>
          </a:prstGeom>
          <a:noFill/>
          <a:ln/>
        </p:spPr>
        <p:txBody>
          <a:bodyPr wrap="square" rtlCol="0" anchor="ctr"/>
          <a:lstStyle/>
          <a:p>
            <a:pPr marL="0" indent="0">
              <a:lnSpc>
                <a:spcPct val="130000"/>
              </a:lnSpc>
              <a:buNone/>
            </a:pPr>
            <a:r>
              <a:rPr lang="en-US" sz="1600" dirty="0">
                <a:solidFill>
                  <a:srgbClr val="23262B"/>
                </a:solidFill>
                <a:latin typeface="Calibri" pitchFamily="34" charset="0"/>
                <a:ea typeface="Calibri" pitchFamily="34" charset="-122"/>
                <a:cs typeface="Calibri" pitchFamily="34" charset="-120"/>
              </a:rPr>
              <a:t>We designed PharmaStock as a single dashboard-driven app, where every problem from the previous slide maps to a dedicated module reachable from one sidebar.</a:t>
            </a:r>
            <a:endParaRPr lang="en-US" sz="1600" dirty="0"/>
          </a:p>
        </p:txBody>
      </p:sp>
      <p:sp>
        <p:nvSpPr>
          <p:cNvPr id="5" name="Shape 3"/>
          <p:cNvSpPr/>
          <p:nvPr/>
        </p:nvSpPr>
        <p:spPr>
          <a:xfrm>
            <a:off x="608076" y="2651760"/>
            <a:ext cx="1691640" cy="1417320"/>
          </a:xfrm>
          <a:prstGeom prst="roundRect">
            <a:avLst>
              <a:gd name="adj" fmla="val 6452"/>
            </a:avLst>
          </a:prstGeom>
          <a:solidFill>
            <a:srgbClr val="F7F9FA"/>
          </a:solidFill>
          <a:ln/>
          <a:effectLst>
            <a:outerShdw blurRad="50800" dist="12700" dir="5400000" algn="bl" rotWithShape="0">
              <a:srgbClr val="000000">
                <a:alpha val="8000"/>
              </a:srgbClr>
            </a:outerShdw>
          </a:effectLst>
        </p:spPr>
      </p:sp>
      <p:sp>
        <p:nvSpPr>
          <p:cNvPr id="6" name="Text 4"/>
          <p:cNvSpPr/>
          <p:nvPr/>
        </p:nvSpPr>
        <p:spPr>
          <a:xfrm>
            <a:off x="699516" y="2816352"/>
            <a:ext cx="1508760" cy="502920"/>
          </a:xfrm>
          <a:prstGeom prst="rect">
            <a:avLst/>
          </a:prstGeom>
          <a:noFill/>
          <a:ln/>
        </p:spPr>
        <p:txBody>
          <a:bodyPr wrap="square" rtlCol="0" anchor="ctr"/>
          <a:lstStyle/>
          <a:p>
            <a:pPr marL="0" indent="0" algn="ctr">
              <a:buNone/>
            </a:pPr>
            <a:r>
              <a:rPr lang="en-US" sz="1250" b="1" dirty="0">
                <a:solidFill>
                  <a:srgbClr val="23262B"/>
                </a:solidFill>
                <a:latin typeface="Calibri" pitchFamily="34" charset="0"/>
                <a:ea typeface="Calibri" pitchFamily="34" charset="-122"/>
                <a:cs typeface="Calibri" pitchFamily="34" charset="-120"/>
              </a:rPr>
              <a:t>Login / Signup</a:t>
            </a:r>
            <a:endParaRPr lang="en-US" sz="1250" dirty="0"/>
          </a:p>
        </p:txBody>
      </p:sp>
      <p:sp>
        <p:nvSpPr>
          <p:cNvPr id="7" name="Text 5"/>
          <p:cNvSpPr/>
          <p:nvPr/>
        </p:nvSpPr>
        <p:spPr>
          <a:xfrm>
            <a:off x="699516" y="3364992"/>
            <a:ext cx="1508760" cy="640080"/>
          </a:xfrm>
          <a:prstGeom prst="rect">
            <a:avLst/>
          </a:prstGeom>
          <a:noFill/>
          <a:ln/>
        </p:spPr>
        <p:txBody>
          <a:bodyPr wrap="square" rtlCol="0" anchor="ctr"/>
          <a:lstStyle/>
          <a:p>
            <a:pPr marL="0" indent="0" algn="ctr">
              <a:lnSpc>
                <a:spcPct val="110000"/>
              </a:lnSpc>
              <a:buNone/>
            </a:pPr>
            <a:r>
              <a:rPr lang="en-US" sz="1050" dirty="0">
                <a:solidFill>
                  <a:srgbClr val="6B7280"/>
                </a:solidFill>
                <a:latin typeface="Calibri" pitchFamily="34" charset="0"/>
                <a:ea typeface="Calibri" pitchFamily="34" charset="-122"/>
                <a:cs typeface="Calibri" pitchFamily="34" charset="-120"/>
              </a:rPr>
              <a:t>Secure entry point for staff</a:t>
            </a:r>
            <a:endParaRPr lang="en-US" sz="1050" dirty="0"/>
          </a:p>
        </p:txBody>
      </p:sp>
      <p:sp>
        <p:nvSpPr>
          <p:cNvPr id="8" name="Text 6"/>
          <p:cNvSpPr/>
          <p:nvPr/>
        </p:nvSpPr>
        <p:spPr>
          <a:xfrm>
            <a:off x="2304288" y="3177540"/>
            <a:ext cx="155448" cy="36576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464308" y="2651760"/>
            <a:ext cx="1691640" cy="1417320"/>
          </a:xfrm>
          <a:prstGeom prst="roundRect">
            <a:avLst>
              <a:gd name="adj" fmla="val 6452"/>
            </a:avLst>
          </a:prstGeom>
          <a:solidFill>
            <a:srgbClr val="F7F9FA"/>
          </a:solidFill>
          <a:ln/>
          <a:effectLst>
            <a:outerShdw blurRad="50800" dist="12700" dir="5400000" algn="bl" rotWithShape="0">
              <a:srgbClr val="000000">
                <a:alpha val="8000"/>
              </a:srgbClr>
            </a:outerShdw>
          </a:effectLst>
        </p:spPr>
      </p:sp>
      <p:sp>
        <p:nvSpPr>
          <p:cNvPr id="10" name="Text 8"/>
          <p:cNvSpPr/>
          <p:nvPr/>
        </p:nvSpPr>
        <p:spPr>
          <a:xfrm>
            <a:off x="2555748" y="2816352"/>
            <a:ext cx="1508760" cy="502920"/>
          </a:xfrm>
          <a:prstGeom prst="rect">
            <a:avLst/>
          </a:prstGeom>
          <a:noFill/>
          <a:ln/>
        </p:spPr>
        <p:txBody>
          <a:bodyPr wrap="square" rtlCol="0" anchor="ctr"/>
          <a:lstStyle/>
          <a:p>
            <a:pPr marL="0" indent="0" algn="ctr">
              <a:buNone/>
            </a:pPr>
            <a:r>
              <a:rPr lang="en-US" sz="1250" b="1" dirty="0">
                <a:solidFill>
                  <a:srgbClr val="23262B"/>
                </a:solidFill>
                <a:latin typeface="Calibri" pitchFamily="34" charset="0"/>
                <a:ea typeface="Calibri" pitchFamily="34" charset="-122"/>
                <a:cs typeface="Calibri" pitchFamily="34" charset="-120"/>
              </a:rPr>
              <a:t>Dashboard</a:t>
            </a:r>
            <a:endParaRPr lang="en-US" sz="1250" dirty="0"/>
          </a:p>
        </p:txBody>
      </p:sp>
      <p:sp>
        <p:nvSpPr>
          <p:cNvPr id="11" name="Text 9"/>
          <p:cNvSpPr/>
          <p:nvPr/>
        </p:nvSpPr>
        <p:spPr>
          <a:xfrm>
            <a:off x="2555748" y="3364992"/>
            <a:ext cx="1508760" cy="640080"/>
          </a:xfrm>
          <a:prstGeom prst="rect">
            <a:avLst/>
          </a:prstGeom>
          <a:noFill/>
          <a:ln/>
        </p:spPr>
        <p:txBody>
          <a:bodyPr wrap="square" rtlCol="0" anchor="ctr"/>
          <a:lstStyle/>
          <a:p>
            <a:pPr marL="0" indent="0" algn="ctr">
              <a:lnSpc>
                <a:spcPct val="110000"/>
              </a:lnSpc>
              <a:buNone/>
            </a:pPr>
            <a:r>
              <a:rPr lang="en-US" sz="1050" dirty="0">
                <a:solidFill>
                  <a:srgbClr val="6B7280"/>
                </a:solidFill>
                <a:latin typeface="Calibri" pitchFamily="34" charset="0"/>
                <a:ea typeface="Calibri" pitchFamily="34" charset="-122"/>
                <a:cs typeface="Calibri" pitchFamily="34" charset="-120"/>
              </a:rPr>
              <a:t>Quick stats at a glance</a:t>
            </a:r>
            <a:endParaRPr lang="en-US" sz="1050" dirty="0"/>
          </a:p>
        </p:txBody>
      </p:sp>
      <p:sp>
        <p:nvSpPr>
          <p:cNvPr id="12" name="Text 10"/>
          <p:cNvSpPr/>
          <p:nvPr/>
        </p:nvSpPr>
        <p:spPr>
          <a:xfrm>
            <a:off x="4160520" y="3177540"/>
            <a:ext cx="155448" cy="36576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320540" y="2651760"/>
            <a:ext cx="1691640" cy="1417320"/>
          </a:xfrm>
          <a:prstGeom prst="roundRect">
            <a:avLst>
              <a:gd name="adj" fmla="val 6452"/>
            </a:avLst>
          </a:prstGeom>
          <a:solidFill>
            <a:srgbClr val="F7F9FA"/>
          </a:solidFill>
          <a:ln/>
          <a:effectLst>
            <a:outerShdw blurRad="50800" dist="12700" dir="5400000" algn="bl" rotWithShape="0">
              <a:srgbClr val="000000">
                <a:alpha val="8000"/>
              </a:srgbClr>
            </a:outerShdw>
          </a:effectLst>
        </p:spPr>
      </p:sp>
      <p:sp>
        <p:nvSpPr>
          <p:cNvPr id="14" name="Text 12"/>
          <p:cNvSpPr/>
          <p:nvPr/>
        </p:nvSpPr>
        <p:spPr>
          <a:xfrm>
            <a:off x="4411980" y="2816352"/>
            <a:ext cx="1508760" cy="502920"/>
          </a:xfrm>
          <a:prstGeom prst="rect">
            <a:avLst/>
          </a:prstGeom>
          <a:noFill/>
          <a:ln/>
        </p:spPr>
        <p:txBody>
          <a:bodyPr wrap="square" rtlCol="0" anchor="ctr"/>
          <a:lstStyle/>
          <a:p>
            <a:pPr marL="0" indent="0" algn="ctr">
              <a:buNone/>
            </a:pPr>
            <a:r>
              <a:rPr lang="en-US" sz="1250" b="1" dirty="0">
                <a:solidFill>
                  <a:srgbClr val="23262B"/>
                </a:solidFill>
                <a:latin typeface="Calibri" pitchFamily="34" charset="0"/>
                <a:ea typeface="Calibri" pitchFamily="34" charset="-122"/>
                <a:cs typeface="Calibri" pitchFamily="34" charset="-120"/>
              </a:rPr>
              <a:t>Stock List</a:t>
            </a:r>
            <a:endParaRPr lang="en-US" sz="1250" dirty="0"/>
          </a:p>
        </p:txBody>
      </p:sp>
      <p:sp>
        <p:nvSpPr>
          <p:cNvPr id="15" name="Text 13"/>
          <p:cNvSpPr/>
          <p:nvPr/>
        </p:nvSpPr>
        <p:spPr>
          <a:xfrm>
            <a:off x="4411980" y="3364992"/>
            <a:ext cx="1508760" cy="640080"/>
          </a:xfrm>
          <a:prstGeom prst="rect">
            <a:avLst/>
          </a:prstGeom>
          <a:noFill/>
          <a:ln/>
        </p:spPr>
        <p:txBody>
          <a:bodyPr wrap="square" rtlCol="0" anchor="ctr"/>
          <a:lstStyle/>
          <a:p>
            <a:pPr marL="0" indent="0" algn="ctr">
              <a:lnSpc>
                <a:spcPct val="110000"/>
              </a:lnSpc>
              <a:buNone/>
            </a:pPr>
            <a:r>
              <a:rPr lang="en-US" sz="1050" dirty="0">
                <a:solidFill>
                  <a:srgbClr val="6B7280"/>
                </a:solidFill>
                <a:latin typeface="Calibri" pitchFamily="34" charset="0"/>
                <a:ea typeface="Calibri" pitchFamily="34" charset="-122"/>
                <a:cs typeface="Calibri" pitchFamily="34" charset="-120"/>
              </a:rPr>
              <a:t>Add, view, delete medicines</a:t>
            </a:r>
            <a:endParaRPr lang="en-US" sz="1050" dirty="0"/>
          </a:p>
        </p:txBody>
      </p:sp>
      <p:sp>
        <p:nvSpPr>
          <p:cNvPr id="16" name="Text 14"/>
          <p:cNvSpPr/>
          <p:nvPr/>
        </p:nvSpPr>
        <p:spPr>
          <a:xfrm>
            <a:off x="6016752" y="3177540"/>
            <a:ext cx="155448" cy="36576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6176772" y="2651760"/>
            <a:ext cx="1691640" cy="1417320"/>
          </a:xfrm>
          <a:prstGeom prst="roundRect">
            <a:avLst>
              <a:gd name="adj" fmla="val 6452"/>
            </a:avLst>
          </a:prstGeom>
          <a:solidFill>
            <a:srgbClr val="F7F9FA"/>
          </a:solidFill>
          <a:ln/>
          <a:effectLst>
            <a:outerShdw blurRad="50800" dist="12700" dir="5400000" algn="bl" rotWithShape="0">
              <a:srgbClr val="000000">
                <a:alpha val="8000"/>
              </a:srgbClr>
            </a:outerShdw>
          </a:effectLst>
        </p:spPr>
      </p:sp>
      <p:sp>
        <p:nvSpPr>
          <p:cNvPr id="18" name="Text 16"/>
          <p:cNvSpPr/>
          <p:nvPr/>
        </p:nvSpPr>
        <p:spPr>
          <a:xfrm>
            <a:off x="6268212" y="2816352"/>
            <a:ext cx="1508760" cy="502920"/>
          </a:xfrm>
          <a:prstGeom prst="rect">
            <a:avLst/>
          </a:prstGeom>
          <a:noFill/>
          <a:ln/>
        </p:spPr>
        <p:txBody>
          <a:bodyPr wrap="square" rtlCol="0" anchor="ctr"/>
          <a:lstStyle/>
          <a:p>
            <a:pPr marL="0" indent="0" algn="ctr">
              <a:buNone/>
            </a:pPr>
            <a:r>
              <a:rPr lang="en-US" sz="1250" b="1" dirty="0">
                <a:solidFill>
                  <a:srgbClr val="23262B"/>
                </a:solidFill>
                <a:latin typeface="Calibri" pitchFamily="34" charset="0"/>
                <a:ea typeface="Calibri" pitchFamily="34" charset="-122"/>
                <a:cs typeface="Calibri" pitchFamily="34" charset="-120"/>
              </a:rPr>
              <a:t>Expiry Alerts</a:t>
            </a:r>
            <a:endParaRPr lang="en-US" sz="1250" dirty="0"/>
          </a:p>
        </p:txBody>
      </p:sp>
      <p:sp>
        <p:nvSpPr>
          <p:cNvPr id="19" name="Text 17"/>
          <p:cNvSpPr/>
          <p:nvPr/>
        </p:nvSpPr>
        <p:spPr>
          <a:xfrm>
            <a:off x="6268212" y="3364992"/>
            <a:ext cx="1508760" cy="640080"/>
          </a:xfrm>
          <a:prstGeom prst="rect">
            <a:avLst/>
          </a:prstGeom>
          <a:noFill/>
          <a:ln/>
        </p:spPr>
        <p:txBody>
          <a:bodyPr wrap="square" rtlCol="0" anchor="ctr"/>
          <a:lstStyle/>
          <a:p>
            <a:pPr marL="0" indent="0" algn="ctr">
              <a:lnSpc>
                <a:spcPct val="110000"/>
              </a:lnSpc>
              <a:buNone/>
            </a:pPr>
            <a:r>
              <a:rPr lang="en-US" sz="1050" dirty="0">
                <a:solidFill>
                  <a:srgbClr val="6B7280"/>
                </a:solidFill>
                <a:latin typeface="Calibri" pitchFamily="34" charset="0"/>
                <a:ea typeface="Calibri" pitchFamily="34" charset="-122"/>
                <a:cs typeface="Calibri" pitchFamily="34" charset="-120"/>
              </a:rPr>
              <a:t>Flags items nearing expiry</a:t>
            </a:r>
            <a:endParaRPr lang="en-US" sz="1050" dirty="0"/>
          </a:p>
        </p:txBody>
      </p:sp>
      <p:sp>
        <p:nvSpPr>
          <p:cNvPr id="20" name="Text 18"/>
          <p:cNvSpPr/>
          <p:nvPr/>
        </p:nvSpPr>
        <p:spPr>
          <a:xfrm>
            <a:off x="7872984" y="3177540"/>
            <a:ext cx="155448" cy="36576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8033004" y="2651760"/>
            <a:ext cx="1691640" cy="1417320"/>
          </a:xfrm>
          <a:prstGeom prst="roundRect">
            <a:avLst>
              <a:gd name="adj" fmla="val 6452"/>
            </a:avLst>
          </a:prstGeom>
          <a:solidFill>
            <a:srgbClr val="F7F9FA"/>
          </a:solidFill>
          <a:ln/>
          <a:effectLst>
            <a:outerShdw blurRad="50800" dist="12700" dir="5400000" algn="bl" rotWithShape="0">
              <a:srgbClr val="000000">
                <a:alpha val="8000"/>
              </a:srgbClr>
            </a:outerShdw>
          </a:effectLst>
        </p:spPr>
      </p:sp>
      <p:sp>
        <p:nvSpPr>
          <p:cNvPr id="22" name="Text 20"/>
          <p:cNvSpPr/>
          <p:nvPr/>
        </p:nvSpPr>
        <p:spPr>
          <a:xfrm>
            <a:off x="8124444" y="2816352"/>
            <a:ext cx="1508760" cy="502920"/>
          </a:xfrm>
          <a:prstGeom prst="rect">
            <a:avLst/>
          </a:prstGeom>
          <a:noFill/>
          <a:ln/>
        </p:spPr>
        <p:txBody>
          <a:bodyPr wrap="square" rtlCol="0" anchor="ctr"/>
          <a:lstStyle/>
          <a:p>
            <a:pPr marL="0" indent="0" algn="ctr">
              <a:buNone/>
            </a:pPr>
            <a:r>
              <a:rPr lang="en-US" sz="1250" b="1" dirty="0">
                <a:solidFill>
                  <a:srgbClr val="23262B"/>
                </a:solidFill>
                <a:latin typeface="Calibri" pitchFamily="34" charset="0"/>
                <a:ea typeface="Calibri" pitchFamily="34" charset="-122"/>
                <a:cs typeface="Calibri" pitchFamily="34" charset="-120"/>
              </a:rPr>
              <a:t>Reorder + Suppliers</a:t>
            </a:r>
            <a:endParaRPr lang="en-US" sz="1250" dirty="0"/>
          </a:p>
        </p:txBody>
      </p:sp>
      <p:sp>
        <p:nvSpPr>
          <p:cNvPr id="23" name="Text 21"/>
          <p:cNvSpPr/>
          <p:nvPr/>
        </p:nvSpPr>
        <p:spPr>
          <a:xfrm>
            <a:off x="8124444" y="3364992"/>
            <a:ext cx="1508760" cy="640080"/>
          </a:xfrm>
          <a:prstGeom prst="rect">
            <a:avLst/>
          </a:prstGeom>
          <a:noFill/>
          <a:ln/>
        </p:spPr>
        <p:txBody>
          <a:bodyPr wrap="square" rtlCol="0" anchor="ctr"/>
          <a:lstStyle/>
          <a:p>
            <a:pPr marL="0" indent="0" algn="ctr">
              <a:lnSpc>
                <a:spcPct val="110000"/>
              </a:lnSpc>
              <a:buNone/>
            </a:pPr>
            <a:r>
              <a:rPr lang="en-US" sz="1050" dirty="0">
                <a:solidFill>
                  <a:srgbClr val="6B7280"/>
                </a:solidFill>
                <a:latin typeface="Calibri" pitchFamily="34" charset="0"/>
                <a:ea typeface="Calibri" pitchFamily="34" charset="-122"/>
                <a:cs typeface="Calibri" pitchFamily="34" charset="-120"/>
              </a:rPr>
              <a:t>Form-based restocking</a:t>
            </a:r>
            <a:endParaRPr lang="en-US" sz="1050" dirty="0"/>
          </a:p>
        </p:txBody>
      </p:sp>
      <p:sp>
        <p:nvSpPr>
          <p:cNvPr id="24" name="Text 22"/>
          <p:cNvSpPr/>
          <p:nvPr/>
        </p:nvSpPr>
        <p:spPr>
          <a:xfrm>
            <a:off x="9729216" y="3177540"/>
            <a:ext cx="155448" cy="365760"/>
          </a:xfrm>
          <a:prstGeom prst="rect">
            <a:avLst/>
          </a:prstGeom>
          <a:noFill/>
          <a:ln/>
        </p:spPr>
        <p:txBody>
          <a:bodyPr wrap="square"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9889236" y="2651760"/>
            <a:ext cx="1691640" cy="1417320"/>
          </a:xfrm>
          <a:prstGeom prst="roundRect">
            <a:avLst>
              <a:gd name="adj" fmla="val 6452"/>
            </a:avLst>
          </a:prstGeom>
          <a:solidFill>
            <a:srgbClr val="0E7C7B"/>
          </a:solidFill>
          <a:ln/>
          <a:effectLst>
            <a:outerShdw blurRad="50800" dist="12700" dir="5400000" algn="bl" rotWithShape="0">
              <a:srgbClr val="000000">
                <a:alpha val="8000"/>
              </a:srgbClr>
            </a:outerShdw>
          </a:effectLst>
        </p:spPr>
      </p:sp>
      <p:sp>
        <p:nvSpPr>
          <p:cNvPr id="26" name="Text 24"/>
          <p:cNvSpPr/>
          <p:nvPr/>
        </p:nvSpPr>
        <p:spPr>
          <a:xfrm>
            <a:off x="9980676" y="2816352"/>
            <a:ext cx="1508760" cy="50292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Analytics</a:t>
            </a:r>
            <a:endParaRPr lang="en-US" sz="1250" dirty="0"/>
          </a:p>
        </p:txBody>
      </p:sp>
      <p:sp>
        <p:nvSpPr>
          <p:cNvPr id="27" name="Text 25"/>
          <p:cNvSpPr/>
          <p:nvPr/>
        </p:nvSpPr>
        <p:spPr>
          <a:xfrm>
            <a:off x="9980676" y="3364992"/>
            <a:ext cx="1508760" cy="640080"/>
          </a:xfrm>
          <a:prstGeom prst="rect">
            <a:avLst/>
          </a:prstGeom>
          <a:noFill/>
          <a:ln/>
        </p:spPr>
        <p:txBody>
          <a:bodyPr wrap="square" rtlCol="0" anchor="ctr"/>
          <a:lstStyle/>
          <a:p>
            <a:pPr marL="0" indent="0" algn="ctr">
              <a:lnSpc>
                <a:spcPct val="110000"/>
              </a:lnSpc>
              <a:buNone/>
            </a:pPr>
            <a:r>
              <a:rPr lang="en-US" sz="1050" dirty="0">
                <a:solidFill>
                  <a:srgbClr val="E0F5F4"/>
                </a:solidFill>
                <a:latin typeface="Calibri" pitchFamily="34" charset="0"/>
                <a:ea typeface="Calibri" pitchFamily="34" charset="-122"/>
                <a:cs typeface="Calibri" pitchFamily="34" charset="-120"/>
              </a:rPr>
              <a:t>Recharts-based trend view</a:t>
            </a:r>
            <a:endParaRPr lang="en-US" sz="1050" dirty="0"/>
          </a:p>
        </p:txBody>
      </p:sp>
      <p:sp>
        <p:nvSpPr>
          <p:cNvPr id="28" name="Text 26"/>
          <p:cNvSpPr/>
          <p:nvPr/>
        </p:nvSpPr>
        <p:spPr>
          <a:xfrm>
            <a:off x="548640" y="4526280"/>
            <a:ext cx="10789920" cy="640080"/>
          </a:xfrm>
          <a:prstGeom prst="rect">
            <a:avLst/>
          </a:prstGeom>
          <a:noFill/>
          <a:ln/>
        </p:spPr>
        <p:txBody>
          <a:bodyPr wrap="square" rtlCol="0" anchor="ctr"/>
          <a:lstStyle/>
          <a:p>
            <a:pPr marL="0" indent="0">
              <a:lnSpc>
                <a:spcPct val="130000"/>
              </a:lnSpc>
              <a:buNone/>
            </a:pPr>
            <a:r>
              <a:rPr lang="en-US" sz="1450" i="1" dirty="0">
                <a:solidFill>
                  <a:srgbClr val="6B7280"/>
                </a:solidFill>
                <a:latin typeface="Calibri" pitchFamily="34" charset="0"/>
                <a:ea typeface="Calibri" pitchFamily="34" charset="-122"/>
                <a:cs typeface="Calibri" pitchFamily="34" charset="-120"/>
              </a:rPr>
              <a:t>Every module is its own React route, so the app stays organized and each feature can be built, tested, and improved independently.</a:t>
            </a:r>
            <a:endParaRPr lang="en-US" sz="1450" dirty="0"/>
          </a:p>
        </p:txBody>
      </p:sp>
      <p:sp>
        <p:nvSpPr>
          <p:cNvPr id="29" name="Text 27"/>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30" name="Text 28"/>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COURSE OUTCOME 1</a:t>
            </a:r>
            <a:endParaRPr lang="en-US" sz="1300" dirty="0"/>
          </a:p>
        </p:txBody>
      </p:sp>
      <p:sp>
        <p:nvSpPr>
          <p:cNvPr id="3" name="Text 1"/>
          <p:cNvSpPr/>
          <p:nvPr/>
        </p:nvSpPr>
        <p:spPr>
          <a:xfrm>
            <a:off x="548640" y="685800"/>
            <a:ext cx="8961120" cy="731520"/>
          </a:xfrm>
          <a:prstGeom prst="rect">
            <a:avLst/>
          </a:prstGeom>
          <a:noFill/>
          <a:ln/>
        </p:spPr>
        <p:txBody>
          <a:bodyPr wrap="square" rtlCol="0" anchor="ctr"/>
          <a:lstStyle/>
          <a:p>
            <a:pPr marL="0" indent="0">
              <a:buNone/>
            </a:pPr>
            <a:r>
              <a:rPr lang="en-US" sz="3000" b="1" dirty="0">
                <a:solidFill>
                  <a:srgbClr val="23262B"/>
                </a:solidFill>
                <a:latin typeface="Cambria" pitchFamily="34" charset="0"/>
                <a:ea typeface="Cambria" pitchFamily="34" charset="-122"/>
                <a:cs typeface="Cambria" pitchFamily="34" charset="-120"/>
              </a:rPr>
              <a:t>Foundations of Front-End Engineering</a:t>
            </a:r>
            <a:endParaRPr lang="en-US" sz="3000" dirty="0"/>
          </a:p>
        </p:txBody>
      </p:sp>
      <p:sp>
        <p:nvSpPr>
          <p:cNvPr id="4" name="Shape 2"/>
          <p:cNvSpPr/>
          <p:nvPr/>
        </p:nvSpPr>
        <p:spPr>
          <a:xfrm>
            <a:off x="10360152" y="411480"/>
            <a:ext cx="1280160" cy="457200"/>
          </a:xfrm>
          <a:prstGeom prst="roundRect">
            <a:avLst>
              <a:gd name="adj" fmla="val 50000"/>
            </a:avLst>
          </a:prstGeom>
          <a:solidFill>
            <a:srgbClr val="E8F4F3"/>
          </a:solidFill>
          <a:ln/>
        </p:spPr>
      </p:sp>
      <p:sp>
        <p:nvSpPr>
          <p:cNvPr id="5" name="Text 3"/>
          <p:cNvSpPr/>
          <p:nvPr/>
        </p:nvSpPr>
        <p:spPr>
          <a:xfrm>
            <a:off x="10360152" y="411480"/>
            <a:ext cx="1280160" cy="457200"/>
          </a:xfrm>
          <a:prstGeom prst="rect">
            <a:avLst/>
          </a:prstGeom>
          <a:noFill/>
          <a:ln/>
        </p:spPr>
        <p:txBody>
          <a:bodyPr wrap="square" rtlCol="0" anchor="ctr"/>
          <a:lstStyle/>
          <a:p>
            <a:pPr marL="0" indent="0" algn="ctr">
              <a:buNone/>
            </a:pPr>
            <a:r>
              <a:rPr lang="en-US" sz="1500" b="1" dirty="0">
                <a:solidFill>
                  <a:srgbClr val="0E7C7B"/>
                </a:solidFill>
                <a:latin typeface="Calibri" pitchFamily="34" charset="0"/>
                <a:ea typeface="Calibri" pitchFamily="34" charset="-122"/>
                <a:cs typeface="Calibri" pitchFamily="34" charset="-120"/>
              </a:rPr>
              <a:t>CO1</a:t>
            </a:r>
            <a:endParaRPr lang="en-US" sz="1500" dirty="0"/>
          </a:p>
        </p:txBody>
      </p:sp>
      <p:sp>
        <p:nvSpPr>
          <p:cNvPr id="6" name="Text 4"/>
          <p:cNvSpPr/>
          <p:nvPr/>
        </p:nvSpPr>
        <p:spPr>
          <a:xfrm>
            <a:off x="548640" y="1508760"/>
            <a:ext cx="10881360" cy="594360"/>
          </a:xfrm>
          <a:prstGeom prst="rect">
            <a:avLst/>
          </a:prstGeom>
          <a:noFill/>
          <a:ln/>
        </p:spPr>
        <p:txBody>
          <a:bodyPr wrap="square" rtlCol="0" anchor="ctr"/>
          <a:lstStyle/>
          <a:p>
            <a:pPr marL="0" indent="0">
              <a:lnSpc>
                <a:spcPct val="125000"/>
              </a:lnSpc>
              <a:buNone/>
            </a:pPr>
            <a:r>
              <a:rPr lang="en-US" sz="1500" dirty="0">
                <a:solidFill>
                  <a:srgbClr val="23262B"/>
                </a:solidFill>
                <a:latin typeface="Calibri" pitchFamily="34" charset="0"/>
                <a:ea typeface="Calibri" pitchFamily="34" charset="-122"/>
                <a:cs typeface="Calibri" pitchFamily="34" charset="-120"/>
              </a:rPr>
              <a:t>CO1 is about understanding why frameworks like React exist, and how they solve the limits of plain DOM manipulation. We applied this thinking right from how the app is structured.</a:t>
            </a:r>
            <a:endParaRPr lang="en-US" sz="1500" dirty="0"/>
          </a:p>
        </p:txBody>
      </p:sp>
      <p:sp>
        <p:nvSpPr>
          <p:cNvPr id="7" name="Text 5"/>
          <p:cNvSpPr/>
          <p:nvPr/>
        </p:nvSpPr>
        <p:spPr>
          <a:xfrm>
            <a:off x="548640" y="2240280"/>
            <a:ext cx="5120640" cy="274320"/>
          </a:xfrm>
          <a:prstGeom prst="rect">
            <a:avLst/>
          </a:prstGeom>
          <a:noFill/>
          <a:ln/>
        </p:spPr>
        <p:txBody>
          <a:bodyPr wrap="square"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CONCEPT WE LEARNED</a:t>
            </a:r>
            <a:endParaRPr lang="en-US" sz="1200" dirty="0"/>
          </a:p>
        </p:txBody>
      </p:sp>
      <p:sp>
        <p:nvSpPr>
          <p:cNvPr id="8" name="Text 6"/>
          <p:cNvSpPr/>
          <p:nvPr/>
        </p:nvSpPr>
        <p:spPr>
          <a:xfrm>
            <a:off x="6035040" y="2240280"/>
            <a:ext cx="5577840" cy="274320"/>
          </a:xfrm>
          <a:prstGeom prst="rect">
            <a:avLst/>
          </a:prstGeom>
          <a:noFill/>
          <a:ln/>
        </p:spPr>
        <p:txBody>
          <a:bodyPr wrap="square" rtlCol="0" anchor="ctr"/>
          <a:lstStyle/>
          <a:p>
            <a:pPr marL="0" indent="0">
              <a:buNone/>
            </a:pPr>
            <a:r>
              <a:rPr lang="en-US" sz="1200" b="1" kern="0" spc="150" dirty="0">
                <a:solidFill>
                  <a:srgbClr val="0E7C7B"/>
                </a:solidFill>
                <a:latin typeface="Calibri" pitchFamily="34" charset="0"/>
                <a:ea typeface="Calibri" pitchFamily="34" charset="-122"/>
                <a:cs typeface="Calibri" pitchFamily="34" charset="-120"/>
              </a:rPr>
              <a:t>HOW WE USED IT IN PHARMASTOCK</a:t>
            </a:r>
            <a:endParaRPr lang="en-US" sz="1200" dirty="0"/>
          </a:p>
        </p:txBody>
      </p:sp>
      <p:sp>
        <p:nvSpPr>
          <p:cNvPr id="9" name="Shape 7"/>
          <p:cNvSpPr/>
          <p:nvPr/>
        </p:nvSpPr>
        <p:spPr>
          <a:xfrm>
            <a:off x="6007608" y="2514600"/>
            <a:ext cx="5577840" cy="3931920"/>
          </a:xfrm>
          <a:prstGeom prst="roundRect">
            <a:avLst>
              <a:gd name="adj" fmla="val 2326"/>
            </a:avLst>
          </a:prstGeom>
          <a:solidFill>
            <a:srgbClr val="F7F9FA"/>
          </a:solidFill>
          <a:ln/>
        </p:spPr>
        <p:txBody>
          <a:bodyPr/>
          <a:lstStyle/>
          <a:p>
            <a:endParaRPr lang="en-IN" dirty="0"/>
          </a:p>
        </p:txBody>
      </p:sp>
      <p:sp>
        <p:nvSpPr>
          <p:cNvPr id="10" name="Shape 8"/>
          <p:cNvSpPr/>
          <p:nvPr/>
        </p:nvSpPr>
        <p:spPr>
          <a:xfrm>
            <a:off x="704088" y="2697480"/>
            <a:ext cx="146304" cy="146304"/>
          </a:xfrm>
          <a:prstGeom prst="ellipse">
            <a:avLst/>
          </a:prstGeom>
          <a:solidFill>
            <a:srgbClr val="0E7C7B"/>
          </a:solidFill>
          <a:ln/>
        </p:spPr>
      </p:sp>
      <p:sp>
        <p:nvSpPr>
          <p:cNvPr id="11" name="Text 9"/>
          <p:cNvSpPr/>
          <p:nvPr/>
        </p:nvSpPr>
        <p:spPr>
          <a:xfrm>
            <a:off x="1051560" y="2578608"/>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Imperative vs declarative UI building</a:t>
            </a:r>
            <a:endParaRPr lang="en-US" sz="1400" dirty="0"/>
          </a:p>
        </p:txBody>
      </p:sp>
      <p:sp>
        <p:nvSpPr>
          <p:cNvPr id="12" name="Shape 10"/>
          <p:cNvSpPr/>
          <p:nvPr/>
        </p:nvSpPr>
        <p:spPr>
          <a:xfrm>
            <a:off x="704088" y="3264408"/>
            <a:ext cx="146304" cy="146304"/>
          </a:xfrm>
          <a:prstGeom prst="ellipse">
            <a:avLst/>
          </a:prstGeom>
          <a:solidFill>
            <a:srgbClr val="0E7C7B"/>
          </a:solidFill>
          <a:ln/>
        </p:spPr>
      </p:sp>
      <p:sp>
        <p:nvSpPr>
          <p:cNvPr id="13" name="Text 11"/>
          <p:cNvSpPr/>
          <p:nvPr/>
        </p:nvSpPr>
        <p:spPr>
          <a:xfrm>
            <a:off x="1051560" y="3145536"/>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Virtual DOM as an abstraction over the real DOM</a:t>
            </a:r>
            <a:endParaRPr lang="en-US" sz="1400" dirty="0"/>
          </a:p>
        </p:txBody>
      </p:sp>
      <p:sp>
        <p:nvSpPr>
          <p:cNvPr id="14" name="Shape 12"/>
          <p:cNvSpPr/>
          <p:nvPr/>
        </p:nvSpPr>
        <p:spPr>
          <a:xfrm>
            <a:off x="704088" y="3831336"/>
            <a:ext cx="146304" cy="146304"/>
          </a:xfrm>
          <a:prstGeom prst="ellipse">
            <a:avLst/>
          </a:prstGeom>
          <a:solidFill>
            <a:srgbClr val="0E7C7B"/>
          </a:solidFill>
          <a:ln/>
        </p:spPr>
      </p:sp>
      <p:sp>
        <p:nvSpPr>
          <p:cNvPr id="15" name="Text 13"/>
          <p:cNvSpPr/>
          <p:nvPr/>
        </p:nvSpPr>
        <p:spPr>
          <a:xfrm>
            <a:off x="1051560" y="3712464"/>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Unidirectional data flow</a:t>
            </a:r>
            <a:endParaRPr lang="en-US" sz="1400" dirty="0"/>
          </a:p>
        </p:txBody>
      </p:sp>
      <p:sp>
        <p:nvSpPr>
          <p:cNvPr id="16" name="Shape 14"/>
          <p:cNvSpPr/>
          <p:nvPr/>
        </p:nvSpPr>
        <p:spPr>
          <a:xfrm>
            <a:off x="704088" y="4398264"/>
            <a:ext cx="146304" cy="146304"/>
          </a:xfrm>
          <a:prstGeom prst="ellipse">
            <a:avLst/>
          </a:prstGeom>
          <a:solidFill>
            <a:srgbClr val="0E7C7B"/>
          </a:solidFill>
          <a:ln/>
        </p:spPr>
      </p:sp>
      <p:sp>
        <p:nvSpPr>
          <p:cNvPr id="17" name="Text 15"/>
          <p:cNvSpPr/>
          <p:nvPr/>
        </p:nvSpPr>
        <p:spPr>
          <a:xfrm>
            <a:off x="1051560" y="4279392"/>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Component-driven thinking</a:t>
            </a:r>
            <a:endParaRPr lang="en-US" sz="1400" dirty="0"/>
          </a:p>
        </p:txBody>
      </p:sp>
      <p:sp>
        <p:nvSpPr>
          <p:cNvPr id="19" name="Text 17"/>
          <p:cNvSpPr/>
          <p:nvPr/>
        </p:nvSpPr>
        <p:spPr>
          <a:xfrm>
            <a:off x="6367272" y="4041648"/>
            <a:ext cx="5120640" cy="740664"/>
          </a:xfrm>
          <a:prstGeom prst="rect">
            <a:avLst/>
          </a:prstGeom>
          <a:noFill/>
          <a:ln/>
        </p:spPr>
        <p:txBody>
          <a:bodyPr wrap="square" rtlCol="0" anchor="ctr"/>
          <a:lstStyle/>
          <a:p>
            <a:pPr>
              <a:lnSpc>
                <a:spcPct val="120000"/>
              </a:lnSpc>
            </a:pPr>
            <a:r>
              <a:rPr lang="en-US" sz="1600" dirty="0">
                <a:solidFill>
                  <a:schemeClr val="bg1">
                    <a:lumMod val="50000"/>
                  </a:schemeClr>
                </a:solidFill>
              </a:rPr>
              <a:t>function Dashboard() {</a:t>
            </a:r>
          </a:p>
          <a:p>
            <a:pPr>
              <a:lnSpc>
                <a:spcPct val="120000"/>
              </a:lnSpc>
            </a:pPr>
            <a:r>
              <a:rPr lang="en-US" sz="1600" dirty="0">
                <a:solidFill>
                  <a:schemeClr val="bg1">
                    <a:lumMod val="50000"/>
                  </a:schemeClr>
                </a:solidFill>
              </a:rPr>
              <a:t>  return (</a:t>
            </a:r>
          </a:p>
          <a:p>
            <a:pPr>
              <a:lnSpc>
                <a:spcPct val="120000"/>
              </a:lnSpc>
            </a:pPr>
            <a:r>
              <a:rPr lang="en-US" sz="1600" dirty="0">
                <a:solidFill>
                  <a:schemeClr val="bg1">
                    <a:lumMod val="50000"/>
                  </a:schemeClr>
                </a:solidFill>
              </a:rPr>
              <a:t>    &lt;div </a:t>
            </a:r>
            <a:r>
              <a:rPr lang="en-US" sz="1600" dirty="0" err="1">
                <a:solidFill>
                  <a:schemeClr val="bg1">
                    <a:lumMod val="50000"/>
                  </a:schemeClr>
                </a:solidFill>
              </a:rPr>
              <a:t>className</a:t>
            </a:r>
            <a:r>
              <a:rPr lang="en-US" sz="1600" dirty="0">
                <a:solidFill>
                  <a:schemeClr val="bg1">
                    <a:lumMod val="50000"/>
                  </a:schemeClr>
                </a:solidFill>
              </a:rPr>
              <a:t>="app-layout"&gt;</a:t>
            </a:r>
          </a:p>
          <a:p>
            <a:pPr>
              <a:lnSpc>
                <a:spcPct val="120000"/>
              </a:lnSpc>
            </a:pPr>
            <a:r>
              <a:rPr lang="en-US" sz="1600" dirty="0">
                <a:solidFill>
                  <a:schemeClr val="bg1">
                    <a:lumMod val="50000"/>
                  </a:schemeClr>
                </a:solidFill>
              </a:rPr>
              <a:t>      &lt;Sidebar /&gt;</a:t>
            </a:r>
          </a:p>
          <a:p>
            <a:pPr>
              <a:lnSpc>
                <a:spcPct val="120000"/>
              </a:lnSpc>
            </a:pPr>
            <a:endParaRPr lang="en-US" sz="1600" dirty="0">
              <a:solidFill>
                <a:schemeClr val="bg1">
                  <a:lumMod val="50000"/>
                </a:schemeClr>
              </a:solidFill>
            </a:endParaRPr>
          </a:p>
          <a:p>
            <a:pPr>
              <a:lnSpc>
                <a:spcPct val="120000"/>
              </a:lnSpc>
            </a:pPr>
            <a:r>
              <a:rPr lang="en-US" sz="1600" dirty="0">
                <a:solidFill>
                  <a:schemeClr val="bg1">
                    <a:lumMod val="50000"/>
                  </a:schemeClr>
                </a:solidFill>
              </a:rPr>
              <a:t>      &lt;div </a:t>
            </a:r>
            <a:r>
              <a:rPr lang="en-US" sz="1600" dirty="0" err="1">
                <a:solidFill>
                  <a:schemeClr val="bg1">
                    <a:lumMod val="50000"/>
                  </a:schemeClr>
                </a:solidFill>
              </a:rPr>
              <a:t>className</a:t>
            </a:r>
            <a:r>
              <a:rPr lang="en-US" sz="1600" dirty="0">
                <a:solidFill>
                  <a:schemeClr val="bg1">
                    <a:lumMod val="50000"/>
                  </a:schemeClr>
                </a:solidFill>
              </a:rPr>
              <a:t>="main-content"&gt;</a:t>
            </a:r>
          </a:p>
          <a:p>
            <a:pPr>
              <a:lnSpc>
                <a:spcPct val="120000"/>
              </a:lnSpc>
            </a:pPr>
            <a:r>
              <a:rPr lang="en-US" sz="1600" dirty="0">
                <a:solidFill>
                  <a:schemeClr val="bg1">
                    <a:lumMod val="50000"/>
                  </a:schemeClr>
                </a:solidFill>
              </a:rPr>
              <a:t>        &lt;Navbar /&gt;</a:t>
            </a:r>
          </a:p>
          <a:p>
            <a:pPr>
              <a:lnSpc>
                <a:spcPct val="120000"/>
              </a:lnSpc>
            </a:pPr>
            <a:r>
              <a:rPr lang="en-US" sz="1600" dirty="0">
                <a:solidFill>
                  <a:schemeClr val="bg1">
                    <a:lumMod val="50000"/>
                  </a:schemeClr>
                </a:solidFill>
              </a:rPr>
              <a:t>      &lt;/div&gt;</a:t>
            </a:r>
          </a:p>
          <a:p>
            <a:pPr>
              <a:lnSpc>
                <a:spcPct val="120000"/>
              </a:lnSpc>
            </a:pPr>
            <a:r>
              <a:rPr lang="en-US" sz="1600" dirty="0">
                <a:solidFill>
                  <a:schemeClr val="bg1">
                    <a:lumMod val="50000"/>
                  </a:schemeClr>
                </a:solidFill>
              </a:rPr>
              <a:t>    &lt;/div&gt;</a:t>
            </a:r>
          </a:p>
          <a:p>
            <a:pPr>
              <a:lnSpc>
                <a:spcPct val="120000"/>
              </a:lnSpc>
            </a:pPr>
            <a:r>
              <a:rPr lang="en-US" sz="1600" dirty="0">
                <a:solidFill>
                  <a:schemeClr val="bg1">
                    <a:lumMod val="50000"/>
                  </a:schemeClr>
                </a:solidFill>
              </a:rPr>
              <a:t>  );</a:t>
            </a:r>
          </a:p>
          <a:p>
            <a:pPr>
              <a:lnSpc>
                <a:spcPct val="120000"/>
              </a:lnSpc>
            </a:pPr>
            <a:r>
              <a:rPr lang="en-US" sz="1600" dirty="0">
                <a:solidFill>
                  <a:schemeClr val="bg1">
                    <a:lumMod val="50000"/>
                  </a:schemeClr>
                </a:solidFill>
              </a:rPr>
              <a:t>}</a:t>
            </a:r>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COURSE OUTCOME 2</a:t>
            </a:r>
            <a:endParaRPr lang="en-US" sz="1300" dirty="0"/>
          </a:p>
        </p:txBody>
      </p:sp>
      <p:sp>
        <p:nvSpPr>
          <p:cNvPr id="3" name="Text 1"/>
          <p:cNvSpPr/>
          <p:nvPr/>
        </p:nvSpPr>
        <p:spPr>
          <a:xfrm>
            <a:off x="548640" y="685800"/>
            <a:ext cx="8961120" cy="731520"/>
          </a:xfrm>
          <a:prstGeom prst="rect">
            <a:avLst/>
          </a:prstGeom>
          <a:noFill/>
          <a:ln/>
        </p:spPr>
        <p:txBody>
          <a:bodyPr wrap="square" rtlCol="0" anchor="ctr"/>
          <a:lstStyle/>
          <a:p>
            <a:pPr marL="0" indent="0">
              <a:buNone/>
            </a:pPr>
            <a:r>
              <a:rPr lang="en-US" sz="3000" b="1" dirty="0">
                <a:solidFill>
                  <a:srgbClr val="23262B"/>
                </a:solidFill>
                <a:latin typeface="Cambria" pitchFamily="34" charset="0"/>
                <a:ea typeface="Cambria" pitchFamily="34" charset="-122"/>
                <a:cs typeface="Cambria" pitchFamily="34" charset="-120"/>
              </a:rPr>
              <a:t>JavaScript Engineering for Frameworks</a:t>
            </a:r>
            <a:endParaRPr lang="en-US" sz="3000" dirty="0"/>
          </a:p>
        </p:txBody>
      </p:sp>
      <p:sp>
        <p:nvSpPr>
          <p:cNvPr id="4" name="Shape 2"/>
          <p:cNvSpPr/>
          <p:nvPr/>
        </p:nvSpPr>
        <p:spPr>
          <a:xfrm>
            <a:off x="10360152" y="411480"/>
            <a:ext cx="1280160" cy="457200"/>
          </a:xfrm>
          <a:prstGeom prst="roundRect">
            <a:avLst>
              <a:gd name="adj" fmla="val 50000"/>
            </a:avLst>
          </a:prstGeom>
          <a:solidFill>
            <a:srgbClr val="E8F4F3"/>
          </a:solidFill>
          <a:ln/>
        </p:spPr>
      </p:sp>
      <p:sp>
        <p:nvSpPr>
          <p:cNvPr id="5" name="Text 3"/>
          <p:cNvSpPr/>
          <p:nvPr/>
        </p:nvSpPr>
        <p:spPr>
          <a:xfrm>
            <a:off x="10360152" y="411480"/>
            <a:ext cx="1280160" cy="457200"/>
          </a:xfrm>
          <a:prstGeom prst="rect">
            <a:avLst/>
          </a:prstGeom>
          <a:noFill/>
          <a:ln/>
        </p:spPr>
        <p:txBody>
          <a:bodyPr wrap="square" rtlCol="0" anchor="ctr"/>
          <a:lstStyle/>
          <a:p>
            <a:pPr marL="0" indent="0" algn="ctr">
              <a:buNone/>
            </a:pPr>
            <a:r>
              <a:rPr lang="en-US" sz="1500" b="1" dirty="0">
                <a:solidFill>
                  <a:srgbClr val="0E7C7B"/>
                </a:solidFill>
                <a:latin typeface="Calibri" pitchFamily="34" charset="0"/>
                <a:ea typeface="Calibri" pitchFamily="34" charset="-122"/>
                <a:cs typeface="Calibri" pitchFamily="34" charset="-120"/>
              </a:rPr>
              <a:t>CO2</a:t>
            </a:r>
            <a:endParaRPr lang="en-US" sz="1500" dirty="0"/>
          </a:p>
        </p:txBody>
      </p:sp>
      <p:sp>
        <p:nvSpPr>
          <p:cNvPr id="6" name="Text 4"/>
          <p:cNvSpPr/>
          <p:nvPr/>
        </p:nvSpPr>
        <p:spPr>
          <a:xfrm>
            <a:off x="548640" y="1508760"/>
            <a:ext cx="10881360" cy="594360"/>
          </a:xfrm>
          <a:prstGeom prst="rect">
            <a:avLst/>
          </a:prstGeom>
          <a:noFill/>
          <a:ln/>
        </p:spPr>
        <p:txBody>
          <a:bodyPr wrap="square" rtlCol="0" anchor="ctr"/>
          <a:lstStyle/>
          <a:p>
            <a:pPr marL="0" indent="0">
              <a:lnSpc>
                <a:spcPct val="125000"/>
              </a:lnSpc>
              <a:buNone/>
            </a:pPr>
            <a:r>
              <a:rPr lang="en-US" sz="1500" dirty="0">
                <a:solidFill>
                  <a:srgbClr val="23262B"/>
                </a:solidFill>
                <a:latin typeface="Calibri" pitchFamily="34" charset="0"/>
                <a:ea typeface="Calibri" pitchFamily="34" charset="-122"/>
                <a:cs typeface="Calibri" pitchFamily="34" charset="-120"/>
              </a:rPr>
              <a:t>CO2 covers the ES6+ and JS engineering habits that make a React codebase maintainable. We tried to follow these patterns even in a relatively small project.</a:t>
            </a:r>
            <a:endParaRPr lang="en-US" sz="1500" dirty="0"/>
          </a:p>
        </p:txBody>
      </p:sp>
      <p:sp>
        <p:nvSpPr>
          <p:cNvPr id="7" name="Text 5"/>
          <p:cNvSpPr/>
          <p:nvPr/>
        </p:nvSpPr>
        <p:spPr>
          <a:xfrm>
            <a:off x="548640" y="2240280"/>
            <a:ext cx="5120640" cy="274320"/>
          </a:xfrm>
          <a:prstGeom prst="rect">
            <a:avLst/>
          </a:prstGeom>
          <a:noFill/>
          <a:ln/>
        </p:spPr>
        <p:txBody>
          <a:bodyPr wrap="square"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CONCEPT WE LEARNED</a:t>
            </a:r>
            <a:endParaRPr lang="en-US" sz="1200" dirty="0"/>
          </a:p>
        </p:txBody>
      </p:sp>
      <p:sp>
        <p:nvSpPr>
          <p:cNvPr id="8" name="Text 6"/>
          <p:cNvSpPr/>
          <p:nvPr/>
        </p:nvSpPr>
        <p:spPr>
          <a:xfrm>
            <a:off x="6035040" y="2240280"/>
            <a:ext cx="5577840" cy="274320"/>
          </a:xfrm>
          <a:prstGeom prst="rect">
            <a:avLst/>
          </a:prstGeom>
          <a:noFill/>
          <a:ln/>
        </p:spPr>
        <p:txBody>
          <a:bodyPr wrap="square" rtlCol="0" anchor="ctr"/>
          <a:lstStyle/>
          <a:p>
            <a:pPr marL="0" indent="0">
              <a:buNone/>
            </a:pPr>
            <a:r>
              <a:rPr lang="en-US" sz="1200" b="1" kern="0" spc="150" dirty="0">
                <a:solidFill>
                  <a:srgbClr val="0E7C7B"/>
                </a:solidFill>
                <a:latin typeface="Calibri" pitchFamily="34" charset="0"/>
                <a:ea typeface="Calibri" pitchFamily="34" charset="-122"/>
                <a:cs typeface="Calibri" pitchFamily="34" charset="-120"/>
              </a:rPr>
              <a:t>HOW WE USED IT IN PHARMASTOCK</a:t>
            </a:r>
            <a:endParaRPr lang="en-US" sz="1200" dirty="0"/>
          </a:p>
        </p:txBody>
      </p:sp>
      <p:sp>
        <p:nvSpPr>
          <p:cNvPr id="9" name="Shape 7"/>
          <p:cNvSpPr/>
          <p:nvPr/>
        </p:nvSpPr>
        <p:spPr>
          <a:xfrm>
            <a:off x="6035040" y="2606040"/>
            <a:ext cx="5577840" cy="3931920"/>
          </a:xfrm>
          <a:prstGeom prst="roundRect">
            <a:avLst>
              <a:gd name="adj" fmla="val 2326"/>
            </a:avLst>
          </a:prstGeom>
          <a:solidFill>
            <a:srgbClr val="F7F9FA"/>
          </a:solidFill>
          <a:ln/>
        </p:spPr>
      </p:sp>
      <p:sp>
        <p:nvSpPr>
          <p:cNvPr id="10" name="Shape 8"/>
          <p:cNvSpPr/>
          <p:nvPr/>
        </p:nvSpPr>
        <p:spPr>
          <a:xfrm>
            <a:off x="704088" y="2697480"/>
            <a:ext cx="146304" cy="146304"/>
          </a:xfrm>
          <a:prstGeom prst="ellipse">
            <a:avLst/>
          </a:prstGeom>
          <a:solidFill>
            <a:srgbClr val="0E7C7B"/>
          </a:solidFill>
          <a:ln/>
        </p:spPr>
      </p:sp>
      <p:sp>
        <p:nvSpPr>
          <p:cNvPr id="11" name="Text 9"/>
          <p:cNvSpPr/>
          <p:nvPr/>
        </p:nvSpPr>
        <p:spPr>
          <a:xfrm>
            <a:off x="1051560" y="2578608"/>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ES6+ essentials: arrow functions, destructuring, modules</a:t>
            </a:r>
            <a:endParaRPr lang="en-US" sz="1400" dirty="0"/>
          </a:p>
        </p:txBody>
      </p:sp>
      <p:sp>
        <p:nvSpPr>
          <p:cNvPr id="12" name="Shape 10"/>
          <p:cNvSpPr/>
          <p:nvPr/>
        </p:nvSpPr>
        <p:spPr>
          <a:xfrm>
            <a:off x="704088" y="3264408"/>
            <a:ext cx="146304" cy="146304"/>
          </a:xfrm>
          <a:prstGeom prst="ellipse">
            <a:avLst/>
          </a:prstGeom>
          <a:solidFill>
            <a:srgbClr val="0E7C7B"/>
          </a:solidFill>
          <a:ln/>
        </p:spPr>
      </p:sp>
      <p:sp>
        <p:nvSpPr>
          <p:cNvPr id="13" name="Text 11"/>
          <p:cNvSpPr/>
          <p:nvPr/>
        </p:nvSpPr>
        <p:spPr>
          <a:xfrm>
            <a:off x="1051560" y="3145536"/>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Closures and functional patterns in UI logic</a:t>
            </a:r>
            <a:endParaRPr lang="en-US" sz="1400" dirty="0"/>
          </a:p>
        </p:txBody>
      </p:sp>
      <p:sp>
        <p:nvSpPr>
          <p:cNvPr id="14" name="Shape 12"/>
          <p:cNvSpPr/>
          <p:nvPr/>
        </p:nvSpPr>
        <p:spPr>
          <a:xfrm>
            <a:off x="704088" y="3831336"/>
            <a:ext cx="146304" cy="146304"/>
          </a:xfrm>
          <a:prstGeom prst="ellipse">
            <a:avLst/>
          </a:prstGeom>
          <a:solidFill>
            <a:srgbClr val="0E7C7B"/>
          </a:solidFill>
          <a:ln/>
        </p:spPr>
      </p:sp>
      <p:sp>
        <p:nvSpPr>
          <p:cNvPr id="15" name="Text 13"/>
          <p:cNvSpPr/>
          <p:nvPr/>
        </p:nvSpPr>
        <p:spPr>
          <a:xfrm>
            <a:off x="1051560" y="3712464"/>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Immutability and pure functions</a:t>
            </a:r>
            <a:endParaRPr lang="en-US" sz="1400" dirty="0"/>
          </a:p>
        </p:txBody>
      </p:sp>
      <p:sp>
        <p:nvSpPr>
          <p:cNvPr id="16" name="Shape 14"/>
          <p:cNvSpPr/>
          <p:nvPr/>
        </p:nvSpPr>
        <p:spPr>
          <a:xfrm>
            <a:off x="704088" y="4398264"/>
            <a:ext cx="146304" cy="146304"/>
          </a:xfrm>
          <a:prstGeom prst="ellipse">
            <a:avLst/>
          </a:prstGeom>
          <a:solidFill>
            <a:srgbClr val="0E7C7B"/>
          </a:solidFill>
          <a:ln/>
        </p:spPr>
      </p:sp>
      <p:sp>
        <p:nvSpPr>
          <p:cNvPr id="17" name="Text 15"/>
          <p:cNvSpPr/>
          <p:nvPr/>
        </p:nvSpPr>
        <p:spPr>
          <a:xfrm>
            <a:off x="1051560" y="4279392"/>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Clean folder/module organisation</a:t>
            </a:r>
            <a:endParaRPr lang="en-US" sz="1400" dirty="0"/>
          </a:p>
        </p:txBody>
      </p:sp>
      <p:sp>
        <p:nvSpPr>
          <p:cNvPr id="19" name="Text 17"/>
          <p:cNvSpPr/>
          <p:nvPr/>
        </p:nvSpPr>
        <p:spPr>
          <a:xfrm>
            <a:off x="6367272" y="4041648"/>
            <a:ext cx="5120640" cy="740664"/>
          </a:xfrm>
          <a:prstGeom prst="rect">
            <a:avLst/>
          </a:prstGeom>
          <a:noFill/>
          <a:ln/>
        </p:spPr>
        <p:txBody>
          <a:bodyPr wrap="square" rtlCol="0" anchor="ctr"/>
          <a:lstStyle/>
          <a:p>
            <a:pPr>
              <a:lnSpc>
                <a:spcPct val="120000"/>
              </a:lnSpc>
            </a:pPr>
            <a:r>
              <a:rPr lang="en-US" sz="1600" dirty="0">
                <a:solidFill>
                  <a:srgbClr val="6B7280"/>
                </a:solidFill>
                <a:latin typeface="Calibri" pitchFamily="34" charset="0"/>
                <a:ea typeface="Calibri" pitchFamily="34" charset="-122"/>
                <a:cs typeface="Calibri" pitchFamily="34" charset="-120"/>
              </a:rPr>
              <a:t>import Navbar from '../components/Navbar';</a:t>
            </a:r>
          </a:p>
          <a:p>
            <a:pPr>
              <a:lnSpc>
                <a:spcPct val="120000"/>
              </a:lnSpc>
            </a:pPr>
            <a:r>
              <a:rPr lang="en-US" sz="1600" dirty="0">
                <a:solidFill>
                  <a:srgbClr val="6B7280"/>
                </a:solidFill>
                <a:latin typeface="Calibri" pitchFamily="34" charset="0"/>
                <a:ea typeface="Calibri" pitchFamily="34" charset="-122"/>
                <a:cs typeface="Calibri" pitchFamily="34" charset="-120"/>
              </a:rPr>
              <a:t>import Sidebar from '../components/Sidebar';</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a:solidFill>
                  <a:srgbClr val="6B7280"/>
                </a:solidFill>
                <a:latin typeface="Calibri" pitchFamily="34" charset="0"/>
                <a:ea typeface="Calibri" pitchFamily="34" charset="-122"/>
                <a:cs typeface="Calibri" pitchFamily="34" charset="-120"/>
              </a:rPr>
              <a:t>const </a:t>
            </a:r>
            <a:r>
              <a:rPr lang="en-US" sz="1600" dirty="0" err="1">
                <a:solidFill>
                  <a:srgbClr val="6B7280"/>
                </a:solidFill>
                <a:latin typeface="Calibri" pitchFamily="34" charset="0"/>
                <a:ea typeface="Calibri" pitchFamily="34" charset="-122"/>
                <a:cs typeface="Calibri" pitchFamily="34" charset="-120"/>
              </a:rPr>
              <a:t>handleLogin</a:t>
            </a:r>
            <a:r>
              <a:rPr lang="en-US" sz="1600" dirty="0">
                <a:solidFill>
                  <a:srgbClr val="6B7280"/>
                </a:solidFill>
                <a:latin typeface="Calibri" pitchFamily="34" charset="0"/>
                <a:ea typeface="Calibri" pitchFamily="34" charset="-122"/>
                <a:cs typeface="Calibri" pitchFamily="34" charset="-120"/>
              </a:rPr>
              <a:t> = () =&gt; {</a:t>
            </a:r>
          </a:p>
          <a:p>
            <a:pPr>
              <a:lnSpc>
                <a:spcPct val="120000"/>
              </a:lnSpc>
            </a:pPr>
            <a:r>
              <a:rPr lang="en-US" sz="1600" dirty="0">
                <a:solidFill>
                  <a:srgbClr val="6B7280"/>
                </a:solidFill>
                <a:latin typeface="Calibri" pitchFamily="34" charset="0"/>
                <a:ea typeface="Calibri" pitchFamily="34" charset="-122"/>
                <a:cs typeface="Calibri" pitchFamily="34" charset="-120"/>
              </a:rPr>
              <a:t>  navigate('/dashboard');</a:t>
            </a:r>
          </a:p>
          <a:p>
            <a:pPr>
              <a:lnSpc>
                <a:spcPct val="120000"/>
              </a:lnSpc>
            </a:pPr>
            <a:r>
              <a:rPr lang="en-US" sz="1600" dirty="0">
                <a:solidFill>
                  <a:srgbClr val="6B7280"/>
                </a:solidFill>
                <a:latin typeface="Calibri" pitchFamily="34" charset="0"/>
                <a:ea typeface="Calibri" pitchFamily="34" charset="-122"/>
                <a:cs typeface="Calibri" pitchFamily="34" charset="-120"/>
              </a:rPr>
              <a:t>};</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err="1">
                <a:solidFill>
                  <a:srgbClr val="6B7280"/>
                </a:solidFill>
                <a:latin typeface="Calibri" pitchFamily="34" charset="0"/>
                <a:ea typeface="Calibri" pitchFamily="34" charset="-122"/>
                <a:cs typeface="Calibri" pitchFamily="34" charset="-120"/>
              </a:rPr>
              <a:t>localStorage.setItem</a:t>
            </a:r>
            <a:r>
              <a:rPr lang="en-US" sz="1600" dirty="0">
                <a:solidFill>
                  <a:srgbClr val="6B7280"/>
                </a:solidFill>
                <a:latin typeface="Calibri" pitchFamily="34" charset="0"/>
                <a:ea typeface="Calibri" pitchFamily="34" charset="-122"/>
                <a:cs typeface="Calibri" pitchFamily="34" charset="-120"/>
              </a:rPr>
              <a:t>(</a:t>
            </a:r>
          </a:p>
          <a:p>
            <a:pPr>
              <a:lnSpc>
                <a:spcPct val="120000"/>
              </a:lnSpc>
            </a:pPr>
            <a:r>
              <a:rPr lang="en-US" sz="1600" dirty="0">
                <a:solidFill>
                  <a:srgbClr val="6B7280"/>
                </a:solidFill>
                <a:latin typeface="Calibri" pitchFamily="34" charset="0"/>
                <a:ea typeface="Calibri" pitchFamily="34" charset="-122"/>
                <a:cs typeface="Calibri" pitchFamily="34" charset="-120"/>
              </a:rPr>
              <a:t>  'medicines',</a:t>
            </a:r>
          </a:p>
          <a:p>
            <a:pPr>
              <a:lnSpc>
                <a:spcPct val="120000"/>
              </a:lnSpc>
            </a:pP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JSON.stringify</a:t>
            </a:r>
            <a:r>
              <a:rPr lang="en-US" sz="1600" dirty="0">
                <a:solidFill>
                  <a:srgbClr val="6B7280"/>
                </a:solidFill>
                <a:latin typeface="Calibri" pitchFamily="34" charset="0"/>
                <a:ea typeface="Calibri" pitchFamily="34" charset="-122"/>
                <a:cs typeface="Calibri" pitchFamily="34" charset="-120"/>
              </a:rPr>
              <a:t>(</a:t>
            </a:r>
            <a:r>
              <a:rPr lang="en-US" sz="1600" dirty="0" err="1">
                <a:solidFill>
                  <a:srgbClr val="6B7280"/>
                </a:solidFill>
                <a:latin typeface="Calibri" pitchFamily="34" charset="0"/>
                <a:ea typeface="Calibri" pitchFamily="34" charset="-122"/>
                <a:cs typeface="Calibri" pitchFamily="34" charset="-120"/>
              </a:rPr>
              <a:t>updatedMedicines</a:t>
            </a:r>
            <a:r>
              <a:rPr lang="en-US" sz="1600" dirty="0">
                <a:solidFill>
                  <a:srgbClr val="6B7280"/>
                </a:solidFill>
                <a:latin typeface="Calibri" pitchFamily="34" charset="0"/>
                <a:ea typeface="Calibri" pitchFamily="34" charset="-122"/>
                <a:cs typeface="Calibri" pitchFamily="34" charset="-120"/>
              </a:rPr>
              <a:t>)</a:t>
            </a:r>
          </a:p>
          <a:p>
            <a:pPr>
              <a:lnSpc>
                <a:spcPct val="120000"/>
              </a:lnSpc>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COURSE OUTCOME 3</a:t>
            </a:r>
            <a:endParaRPr lang="en-US" sz="1300" dirty="0"/>
          </a:p>
        </p:txBody>
      </p:sp>
      <p:sp>
        <p:nvSpPr>
          <p:cNvPr id="3" name="Text 1"/>
          <p:cNvSpPr/>
          <p:nvPr/>
        </p:nvSpPr>
        <p:spPr>
          <a:xfrm>
            <a:off x="548640" y="685800"/>
            <a:ext cx="8961120" cy="731520"/>
          </a:xfrm>
          <a:prstGeom prst="rect">
            <a:avLst/>
          </a:prstGeom>
          <a:noFill/>
          <a:ln/>
        </p:spPr>
        <p:txBody>
          <a:bodyPr wrap="square" rtlCol="0" anchor="ctr"/>
          <a:lstStyle/>
          <a:p>
            <a:pPr marL="0" indent="0">
              <a:buNone/>
            </a:pPr>
            <a:r>
              <a:rPr lang="en-US" sz="3000" b="1" dirty="0">
                <a:solidFill>
                  <a:srgbClr val="23262B"/>
                </a:solidFill>
                <a:latin typeface="Cambria" pitchFamily="34" charset="0"/>
                <a:ea typeface="Cambria" pitchFamily="34" charset="-122"/>
                <a:cs typeface="Cambria" pitchFamily="34" charset="-120"/>
              </a:rPr>
              <a:t>The React Component Model</a:t>
            </a:r>
            <a:endParaRPr lang="en-US" sz="3000" dirty="0"/>
          </a:p>
        </p:txBody>
      </p:sp>
      <p:sp>
        <p:nvSpPr>
          <p:cNvPr id="4" name="Shape 2"/>
          <p:cNvSpPr/>
          <p:nvPr/>
        </p:nvSpPr>
        <p:spPr>
          <a:xfrm>
            <a:off x="10360152" y="411480"/>
            <a:ext cx="1280160" cy="457200"/>
          </a:xfrm>
          <a:prstGeom prst="roundRect">
            <a:avLst>
              <a:gd name="adj" fmla="val 50000"/>
            </a:avLst>
          </a:prstGeom>
          <a:solidFill>
            <a:srgbClr val="E8F4F3"/>
          </a:solidFill>
          <a:ln/>
        </p:spPr>
      </p:sp>
      <p:sp>
        <p:nvSpPr>
          <p:cNvPr id="5" name="Text 3"/>
          <p:cNvSpPr/>
          <p:nvPr/>
        </p:nvSpPr>
        <p:spPr>
          <a:xfrm>
            <a:off x="10360152" y="411480"/>
            <a:ext cx="1280160" cy="457200"/>
          </a:xfrm>
          <a:prstGeom prst="rect">
            <a:avLst/>
          </a:prstGeom>
          <a:noFill/>
          <a:ln/>
        </p:spPr>
        <p:txBody>
          <a:bodyPr wrap="square" rtlCol="0" anchor="ctr"/>
          <a:lstStyle/>
          <a:p>
            <a:pPr marL="0" indent="0" algn="ctr">
              <a:buNone/>
            </a:pPr>
            <a:r>
              <a:rPr lang="en-US" sz="1500" b="1" dirty="0">
                <a:solidFill>
                  <a:srgbClr val="0E7C7B"/>
                </a:solidFill>
                <a:latin typeface="Calibri" pitchFamily="34" charset="0"/>
                <a:ea typeface="Calibri" pitchFamily="34" charset="-122"/>
                <a:cs typeface="Calibri" pitchFamily="34" charset="-120"/>
              </a:rPr>
              <a:t>CO3</a:t>
            </a:r>
            <a:endParaRPr lang="en-US" sz="1500" dirty="0"/>
          </a:p>
        </p:txBody>
      </p:sp>
      <p:sp>
        <p:nvSpPr>
          <p:cNvPr id="6" name="Text 4"/>
          <p:cNvSpPr/>
          <p:nvPr/>
        </p:nvSpPr>
        <p:spPr>
          <a:xfrm>
            <a:off x="548640" y="1508760"/>
            <a:ext cx="10881360" cy="594360"/>
          </a:xfrm>
          <a:prstGeom prst="rect">
            <a:avLst/>
          </a:prstGeom>
          <a:noFill/>
          <a:ln/>
        </p:spPr>
        <p:txBody>
          <a:bodyPr wrap="square" rtlCol="0" anchor="ctr"/>
          <a:lstStyle/>
          <a:p>
            <a:pPr marL="0" indent="0">
              <a:lnSpc>
                <a:spcPct val="125000"/>
              </a:lnSpc>
              <a:buNone/>
            </a:pPr>
            <a:r>
              <a:rPr lang="en-US" sz="1500" dirty="0">
                <a:solidFill>
                  <a:srgbClr val="23262B"/>
                </a:solidFill>
                <a:latin typeface="Calibri" pitchFamily="34" charset="0"/>
                <a:ea typeface="Calibri" pitchFamily="34" charset="-122"/>
                <a:cs typeface="Calibri" pitchFamily="34" charset="-120"/>
              </a:rPr>
              <a:t>CO3 is about treating a component as a predictable function of its props and state. This shaped how we split PharmaStock into independent, reusable pieces.</a:t>
            </a:r>
            <a:endParaRPr lang="en-US" sz="1500" dirty="0"/>
          </a:p>
        </p:txBody>
      </p:sp>
      <p:sp>
        <p:nvSpPr>
          <p:cNvPr id="7" name="Text 5"/>
          <p:cNvSpPr/>
          <p:nvPr/>
        </p:nvSpPr>
        <p:spPr>
          <a:xfrm>
            <a:off x="548640" y="2240280"/>
            <a:ext cx="5120640" cy="274320"/>
          </a:xfrm>
          <a:prstGeom prst="rect">
            <a:avLst/>
          </a:prstGeom>
          <a:noFill/>
          <a:ln/>
        </p:spPr>
        <p:txBody>
          <a:bodyPr wrap="square"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CONCEPT WE LEARNED</a:t>
            </a:r>
            <a:endParaRPr lang="en-US" sz="1200" dirty="0"/>
          </a:p>
        </p:txBody>
      </p:sp>
      <p:sp>
        <p:nvSpPr>
          <p:cNvPr id="8" name="Text 6"/>
          <p:cNvSpPr/>
          <p:nvPr/>
        </p:nvSpPr>
        <p:spPr>
          <a:xfrm>
            <a:off x="6035040" y="2240280"/>
            <a:ext cx="5577840" cy="274320"/>
          </a:xfrm>
          <a:prstGeom prst="rect">
            <a:avLst/>
          </a:prstGeom>
          <a:noFill/>
          <a:ln/>
        </p:spPr>
        <p:txBody>
          <a:bodyPr wrap="square" rtlCol="0" anchor="ctr"/>
          <a:lstStyle/>
          <a:p>
            <a:pPr marL="0" indent="0">
              <a:buNone/>
            </a:pPr>
            <a:r>
              <a:rPr lang="en-US" sz="1200" b="1" kern="0" spc="150" dirty="0">
                <a:solidFill>
                  <a:srgbClr val="0E7C7B"/>
                </a:solidFill>
                <a:latin typeface="Calibri" pitchFamily="34" charset="0"/>
                <a:ea typeface="Calibri" pitchFamily="34" charset="-122"/>
                <a:cs typeface="Calibri" pitchFamily="34" charset="-120"/>
              </a:rPr>
              <a:t>HOW WE USED IT IN PHARMASTOCK</a:t>
            </a:r>
            <a:endParaRPr lang="en-US" sz="1200" dirty="0"/>
          </a:p>
        </p:txBody>
      </p:sp>
      <p:sp>
        <p:nvSpPr>
          <p:cNvPr id="9" name="Shape 7"/>
          <p:cNvSpPr/>
          <p:nvPr/>
        </p:nvSpPr>
        <p:spPr>
          <a:xfrm>
            <a:off x="6035040" y="2606040"/>
            <a:ext cx="5577840" cy="3931920"/>
          </a:xfrm>
          <a:prstGeom prst="roundRect">
            <a:avLst>
              <a:gd name="adj" fmla="val 2326"/>
            </a:avLst>
          </a:prstGeom>
          <a:solidFill>
            <a:srgbClr val="F7F9FA"/>
          </a:solidFill>
          <a:ln/>
        </p:spPr>
      </p:sp>
      <p:sp>
        <p:nvSpPr>
          <p:cNvPr id="10" name="Shape 8"/>
          <p:cNvSpPr/>
          <p:nvPr/>
        </p:nvSpPr>
        <p:spPr>
          <a:xfrm>
            <a:off x="704088" y="2697480"/>
            <a:ext cx="146304" cy="146304"/>
          </a:xfrm>
          <a:prstGeom prst="ellipse">
            <a:avLst/>
          </a:prstGeom>
          <a:solidFill>
            <a:srgbClr val="0E7C7B"/>
          </a:solidFill>
          <a:ln/>
        </p:spPr>
      </p:sp>
      <p:sp>
        <p:nvSpPr>
          <p:cNvPr id="11" name="Text 9"/>
          <p:cNvSpPr/>
          <p:nvPr/>
        </p:nvSpPr>
        <p:spPr>
          <a:xfrm>
            <a:off x="1051560" y="2578608"/>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Component as a deterministic function of props/state</a:t>
            </a:r>
            <a:endParaRPr lang="en-US" sz="1400" dirty="0"/>
          </a:p>
        </p:txBody>
      </p:sp>
      <p:sp>
        <p:nvSpPr>
          <p:cNvPr id="12" name="Shape 10"/>
          <p:cNvSpPr/>
          <p:nvPr/>
        </p:nvSpPr>
        <p:spPr>
          <a:xfrm>
            <a:off x="704088" y="3264408"/>
            <a:ext cx="146304" cy="146304"/>
          </a:xfrm>
          <a:prstGeom prst="ellipse">
            <a:avLst/>
          </a:prstGeom>
          <a:solidFill>
            <a:srgbClr val="0E7C7B"/>
          </a:solidFill>
          <a:ln/>
        </p:spPr>
      </p:sp>
      <p:sp>
        <p:nvSpPr>
          <p:cNvPr id="13" name="Text 11"/>
          <p:cNvSpPr/>
          <p:nvPr/>
        </p:nvSpPr>
        <p:spPr>
          <a:xfrm>
            <a:off x="1051560" y="3145536"/>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Props as a configuration contract</a:t>
            </a:r>
            <a:endParaRPr lang="en-US" sz="1400" dirty="0"/>
          </a:p>
        </p:txBody>
      </p:sp>
      <p:sp>
        <p:nvSpPr>
          <p:cNvPr id="14" name="Shape 12"/>
          <p:cNvSpPr/>
          <p:nvPr/>
        </p:nvSpPr>
        <p:spPr>
          <a:xfrm>
            <a:off x="704088" y="3831336"/>
            <a:ext cx="146304" cy="146304"/>
          </a:xfrm>
          <a:prstGeom prst="ellipse">
            <a:avLst/>
          </a:prstGeom>
          <a:solidFill>
            <a:srgbClr val="0E7C7B"/>
          </a:solidFill>
          <a:ln/>
        </p:spPr>
      </p:sp>
      <p:sp>
        <p:nvSpPr>
          <p:cNvPr id="15" name="Text 13"/>
          <p:cNvSpPr/>
          <p:nvPr/>
        </p:nvSpPr>
        <p:spPr>
          <a:xfrm>
            <a:off x="1051560" y="3712464"/>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State as dynamic runtime data</a:t>
            </a:r>
            <a:endParaRPr lang="en-US" sz="1400" dirty="0"/>
          </a:p>
        </p:txBody>
      </p:sp>
      <p:sp>
        <p:nvSpPr>
          <p:cNvPr id="16" name="Shape 14"/>
          <p:cNvSpPr/>
          <p:nvPr/>
        </p:nvSpPr>
        <p:spPr>
          <a:xfrm>
            <a:off x="704088" y="4398264"/>
            <a:ext cx="146304" cy="146304"/>
          </a:xfrm>
          <a:prstGeom prst="ellipse">
            <a:avLst/>
          </a:prstGeom>
          <a:solidFill>
            <a:srgbClr val="0E7C7B"/>
          </a:solidFill>
          <a:ln/>
        </p:spPr>
      </p:sp>
      <p:sp>
        <p:nvSpPr>
          <p:cNvPr id="17" name="Text 15"/>
          <p:cNvSpPr/>
          <p:nvPr/>
        </p:nvSpPr>
        <p:spPr>
          <a:xfrm>
            <a:off x="1051560" y="4279392"/>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Reusable, composable component patterns</a:t>
            </a:r>
            <a:endParaRPr lang="en-US" sz="1400" dirty="0"/>
          </a:p>
        </p:txBody>
      </p:sp>
      <p:sp>
        <p:nvSpPr>
          <p:cNvPr id="19" name="Text 17"/>
          <p:cNvSpPr/>
          <p:nvPr/>
        </p:nvSpPr>
        <p:spPr>
          <a:xfrm>
            <a:off x="6263640" y="4041648"/>
            <a:ext cx="5120640" cy="740664"/>
          </a:xfrm>
          <a:prstGeom prst="rect">
            <a:avLst/>
          </a:prstGeom>
          <a:noFill/>
          <a:ln/>
        </p:spPr>
        <p:txBody>
          <a:bodyPr wrap="square" rtlCol="0" anchor="ctr"/>
          <a:lstStyle/>
          <a:p>
            <a:pPr>
              <a:lnSpc>
                <a:spcPct val="120000"/>
              </a:lnSpc>
            </a:pPr>
            <a:r>
              <a:rPr lang="en-US" sz="1600" dirty="0">
                <a:solidFill>
                  <a:srgbClr val="6B7280"/>
                </a:solidFill>
                <a:latin typeface="Calibri" pitchFamily="34" charset="0"/>
                <a:ea typeface="Calibri" pitchFamily="34" charset="-122"/>
                <a:cs typeface="Calibri" pitchFamily="34" charset="-120"/>
              </a:rPr>
              <a:t>const [medicines, </a:t>
            </a:r>
            <a:r>
              <a:rPr lang="en-US" sz="1600" dirty="0" err="1">
                <a:solidFill>
                  <a:srgbClr val="6B7280"/>
                </a:solidFill>
                <a:latin typeface="Calibri" pitchFamily="34" charset="0"/>
                <a:ea typeface="Calibri" pitchFamily="34" charset="-122"/>
                <a:cs typeface="Calibri" pitchFamily="34" charset="-120"/>
              </a:rPr>
              <a:t>setMedicines</a:t>
            </a:r>
            <a:r>
              <a:rPr lang="en-US" sz="1600" dirty="0">
                <a:solidFill>
                  <a:srgbClr val="6B7280"/>
                </a:solidFill>
                <a:latin typeface="Calibri" pitchFamily="34" charset="0"/>
                <a:ea typeface="Calibri" pitchFamily="34" charset="-122"/>
                <a:cs typeface="Calibri" pitchFamily="34" charset="-120"/>
              </a:rPr>
              <a:t>] = </a:t>
            </a:r>
            <a:r>
              <a:rPr lang="en-US" sz="1600" dirty="0" err="1">
                <a:solidFill>
                  <a:srgbClr val="6B7280"/>
                </a:solidFill>
                <a:latin typeface="Calibri" pitchFamily="34" charset="0"/>
                <a:ea typeface="Calibri" pitchFamily="34" charset="-122"/>
                <a:cs typeface="Calibri" pitchFamily="34" charset="-120"/>
              </a:rPr>
              <a:t>useState</a:t>
            </a:r>
            <a:r>
              <a:rPr lang="en-US" sz="1600" dirty="0">
                <a:solidFill>
                  <a:srgbClr val="6B7280"/>
                </a:solidFill>
                <a:latin typeface="Calibri" pitchFamily="34" charset="0"/>
                <a:ea typeface="Calibri" pitchFamily="34" charset="-122"/>
                <a:cs typeface="Calibri" pitchFamily="34" charset="-120"/>
              </a:rPr>
              <a:t>([]);</a:t>
            </a:r>
          </a:p>
          <a:p>
            <a:pPr>
              <a:lnSpc>
                <a:spcPct val="120000"/>
              </a:lnSpc>
            </a:pPr>
            <a:r>
              <a:rPr lang="en-US" sz="1600" dirty="0">
                <a:solidFill>
                  <a:srgbClr val="6B7280"/>
                </a:solidFill>
                <a:latin typeface="Calibri" pitchFamily="34" charset="0"/>
                <a:ea typeface="Calibri" pitchFamily="34" charset="-122"/>
                <a:cs typeface="Calibri" pitchFamily="34" charset="-120"/>
              </a:rPr>
              <a:t>const [</a:t>
            </a:r>
            <a:r>
              <a:rPr lang="en-US" sz="1600" dirty="0" err="1">
                <a:solidFill>
                  <a:srgbClr val="6B7280"/>
                </a:solidFill>
                <a:latin typeface="Calibri" pitchFamily="34" charset="0"/>
                <a:ea typeface="Calibri" pitchFamily="34" charset="-122"/>
                <a:cs typeface="Calibri" pitchFamily="34" charset="-120"/>
              </a:rPr>
              <a:t>showForm</a:t>
            </a: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setShowForm</a:t>
            </a:r>
            <a:r>
              <a:rPr lang="en-US" sz="1600" dirty="0">
                <a:solidFill>
                  <a:srgbClr val="6B7280"/>
                </a:solidFill>
                <a:latin typeface="Calibri" pitchFamily="34" charset="0"/>
                <a:ea typeface="Calibri" pitchFamily="34" charset="-122"/>
                <a:cs typeface="Calibri" pitchFamily="34" charset="-120"/>
              </a:rPr>
              <a:t>] = </a:t>
            </a:r>
            <a:r>
              <a:rPr lang="en-US" sz="1600" dirty="0" err="1">
                <a:solidFill>
                  <a:srgbClr val="6B7280"/>
                </a:solidFill>
                <a:latin typeface="Calibri" pitchFamily="34" charset="0"/>
                <a:ea typeface="Calibri" pitchFamily="34" charset="-122"/>
                <a:cs typeface="Calibri" pitchFamily="34" charset="-120"/>
              </a:rPr>
              <a:t>useState</a:t>
            </a:r>
            <a:r>
              <a:rPr lang="en-US" sz="1600" dirty="0">
                <a:solidFill>
                  <a:srgbClr val="6B7280"/>
                </a:solidFill>
                <a:latin typeface="Calibri" pitchFamily="34" charset="0"/>
                <a:ea typeface="Calibri" pitchFamily="34" charset="-122"/>
                <a:cs typeface="Calibri" pitchFamily="34" charset="-120"/>
              </a:rPr>
              <a:t>(false);</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err="1">
                <a:solidFill>
                  <a:srgbClr val="6B7280"/>
                </a:solidFill>
                <a:latin typeface="Calibri" pitchFamily="34" charset="0"/>
                <a:ea typeface="Calibri" pitchFamily="34" charset="-122"/>
                <a:cs typeface="Calibri" pitchFamily="34" charset="-120"/>
              </a:rPr>
              <a:t>useEffect</a:t>
            </a:r>
            <a:r>
              <a:rPr lang="en-US" sz="1600" dirty="0">
                <a:solidFill>
                  <a:srgbClr val="6B7280"/>
                </a:solidFill>
                <a:latin typeface="Calibri" pitchFamily="34" charset="0"/>
                <a:ea typeface="Calibri" pitchFamily="34" charset="-122"/>
                <a:cs typeface="Calibri" pitchFamily="34" charset="-120"/>
              </a:rPr>
              <a:t>(() =&gt; {</a:t>
            </a:r>
          </a:p>
          <a:p>
            <a:pPr>
              <a:lnSpc>
                <a:spcPct val="120000"/>
              </a:lnSpc>
            </a:pPr>
            <a:r>
              <a:rPr lang="en-US" sz="1600" dirty="0">
                <a:solidFill>
                  <a:srgbClr val="6B7280"/>
                </a:solidFill>
                <a:latin typeface="Calibri" pitchFamily="34" charset="0"/>
                <a:ea typeface="Calibri" pitchFamily="34" charset="-122"/>
                <a:cs typeface="Calibri" pitchFamily="34" charset="-120"/>
              </a:rPr>
              <a:t>  const </a:t>
            </a:r>
            <a:r>
              <a:rPr lang="en-US" sz="1600" dirty="0" err="1">
                <a:solidFill>
                  <a:srgbClr val="6B7280"/>
                </a:solidFill>
                <a:latin typeface="Calibri" pitchFamily="34" charset="0"/>
                <a:ea typeface="Calibri" pitchFamily="34" charset="-122"/>
                <a:cs typeface="Calibri" pitchFamily="34" charset="-120"/>
              </a:rPr>
              <a:t>storedMedicines</a:t>
            </a:r>
            <a:r>
              <a:rPr lang="en-US" sz="1600" dirty="0">
                <a:solidFill>
                  <a:srgbClr val="6B7280"/>
                </a:solidFill>
                <a:latin typeface="Calibri" pitchFamily="34" charset="0"/>
                <a:ea typeface="Calibri" pitchFamily="34" charset="-122"/>
                <a:cs typeface="Calibri" pitchFamily="34" charset="-120"/>
              </a:rPr>
              <a:t> =</a:t>
            </a:r>
          </a:p>
          <a:p>
            <a:pPr>
              <a:lnSpc>
                <a:spcPct val="120000"/>
              </a:lnSpc>
            </a:pP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JSON.parse</a:t>
            </a:r>
            <a:r>
              <a:rPr lang="en-US" sz="1600" dirty="0">
                <a:solidFill>
                  <a:srgbClr val="6B7280"/>
                </a:solidFill>
                <a:latin typeface="Calibri" pitchFamily="34" charset="0"/>
                <a:ea typeface="Calibri" pitchFamily="34" charset="-122"/>
                <a:cs typeface="Calibri" pitchFamily="34" charset="-120"/>
              </a:rPr>
              <a:t>(</a:t>
            </a:r>
            <a:r>
              <a:rPr lang="en-US" sz="1600" dirty="0" err="1">
                <a:solidFill>
                  <a:srgbClr val="6B7280"/>
                </a:solidFill>
                <a:latin typeface="Calibri" pitchFamily="34" charset="0"/>
                <a:ea typeface="Calibri" pitchFamily="34" charset="-122"/>
                <a:cs typeface="Calibri" pitchFamily="34" charset="-120"/>
              </a:rPr>
              <a:t>localStorage.getItem</a:t>
            </a:r>
            <a:r>
              <a:rPr lang="en-US" sz="1600" dirty="0">
                <a:solidFill>
                  <a:srgbClr val="6B7280"/>
                </a:solidFill>
                <a:latin typeface="Calibri" pitchFamily="34" charset="0"/>
                <a:ea typeface="Calibri" pitchFamily="34" charset="-122"/>
                <a:cs typeface="Calibri" pitchFamily="34" charset="-120"/>
              </a:rPr>
              <a:t>('medicines'));</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a:solidFill>
                  <a:srgbClr val="6B7280"/>
                </a:solidFill>
                <a:latin typeface="Calibri" pitchFamily="34" charset="0"/>
                <a:ea typeface="Calibri" pitchFamily="34" charset="-122"/>
                <a:cs typeface="Calibri" pitchFamily="34" charset="-120"/>
              </a:rPr>
              <a:t>  if (</a:t>
            </a:r>
            <a:r>
              <a:rPr lang="en-US" sz="1600" dirty="0" err="1">
                <a:solidFill>
                  <a:srgbClr val="6B7280"/>
                </a:solidFill>
                <a:latin typeface="Calibri" pitchFamily="34" charset="0"/>
                <a:ea typeface="Calibri" pitchFamily="34" charset="-122"/>
                <a:cs typeface="Calibri" pitchFamily="34" charset="-120"/>
              </a:rPr>
              <a:t>storedMedicines</a:t>
            </a:r>
            <a:r>
              <a:rPr lang="en-US" sz="1600" dirty="0">
                <a:solidFill>
                  <a:srgbClr val="6B7280"/>
                </a:solidFill>
                <a:latin typeface="Calibri" pitchFamily="34" charset="0"/>
                <a:ea typeface="Calibri" pitchFamily="34" charset="-122"/>
                <a:cs typeface="Calibri" pitchFamily="34" charset="-120"/>
              </a:rPr>
              <a:t>) {</a:t>
            </a:r>
          </a:p>
          <a:p>
            <a:pPr>
              <a:lnSpc>
                <a:spcPct val="120000"/>
              </a:lnSpc>
            </a:pP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setMedicines</a:t>
            </a:r>
            <a:r>
              <a:rPr lang="en-US" sz="1600" dirty="0">
                <a:solidFill>
                  <a:srgbClr val="6B7280"/>
                </a:solidFill>
                <a:latin typeface="Calibri" pitchFamily="34" charset="0"/>
                <a:ea typeface="Calibri" pitchFamily="34" charset="-122"/>
                <a:cs typeface="Calibri" pitchFamily="34" charset="-120"/>
              </a:rPr>
              <a:t>(</a:t>
            </a:r>
            <a:r>
              <a:rPr lang="en-US" sz="1600" dirty="0" err="1">
                <a:solidFill>
                  <a:srgbClr val="6B7280"/>
                </a:solidFill>
                <a:latin typeface="Calibri" pitchFamily="34" charset="0"/>
                <a:ea typeface="Calibri" pitchFamily="34" charset="-122"/>
                <a:cs typeface="Calibri" pitchFamily="34" charset="-120"/>
              </a:rPr>
              <a:t>storedMedicines</a:t>
            </a:r>
            <a:r>
              <a:rPr lang="en-US" sz="1600" dirty="0">
                <a:solidFill>
                  <a:srgbClr val="6B7280"/>
                </a:solidFill>
                <a:latin typeface="Calibri" pitchFamily="34" charset="0"/>
                <a:ea typeface="Calibri" pitchFamily="34" charset="-122"/>
                <a:cs typeface="Calibri" pitchFamily="34" charset="-120"/>
              </a:rPr>
              <a:t>);</a:t>
            </a:r>
          </a:p>
          <a:p>
            <a:pPr>
              <a:lnSpc>
                <a:spcPct val="120000"/>
              </a:lnSpc>
            </a:pPr>
            <a:r>
              <a:rPr lang="en-US" sz="1600" dirty="0">
                <a:solidFill>
                  <a:srgbClr val="6B7280"/>
                </a:solidFill>
                <a:latin typeface="Calibri" pitchFamily="34" charset="0"/>
                <a:ea typeface="Calibri" pitchFamily="34" charset="-122"/>
                <a:cs typeface="Calibri" pitchFamily="34" charset="-120"/>
              </a:rPr>
              <a:t>  }</a:t>
            </a:r>
          </a:p>
          <a:p>
            <a:pPr>
              <a:lnSpc>
                <a:spcPct val="120000"/>
              </a:lnSpc>
            </a:pPr>
            <a:r>
              <a:rPr lang="en-US" sz="1600" dirty="0">
                <a:solidFill>
                  <a:srgbClr val="6B7280"/>
                </a:solidFill>
                <a:latin typeface="Calibri" pitchFamily="34" charset="0"/>
                <a:ea typeface="Calibri" pitchFamily="34" charset="-122"/>
                <a:cs typeface="Calibri" pitchFamily="34" charset="-120"/>
              </a:rPr>
              <a:t>}, []);</a:t>
            </a:r>
            <a:endParaRPr lang="en-US" sz="1600" dirty="0"/>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COURSE OUTCOME 4</a:t>
            </a:r>
            <a:endParaRPr lang="en-US" sz="1300" dirty="0"/>
          </a:p>
        </p:txBody>
      </p:sp>
      <p:sp>
        <p:nvSpPr>
          <p:cNvPr id="3" name="Text 1"/>
          <p:cNvSpPr/>
          <p:nvPr/>
        </p:nvSpPr>
        <p:spPr>
          <a:xfrm>
            <a:off x="548640" y="685800"/>
            <a:ext cx="8961120" cy="731520"/>
          </a:xfrm>
          <a:prstGeom prst="rect">
            <a:avLst/>
          </a:prstGeom>
          <a:noFill/>
          <a:ln/>
        </p:spPr>
        <p:txBody>
          <a:bodyPr wrap="square" rtlCol="0" anchor="ctr"/>
          <a:lstStyle/>
          <a:p>
            <a:pPr marL="0" indent="0">
              <a:buNone/>
            </a:pPr>
            <a:r>
              <a:rPr lang="en-US" sz="3000" b="1" dirty="0">
                <a:solidFill>
                  <a:srgbClr val="23262B"/>
                </a:solidFill>
                <a:latin typeface="Cambria" pitchFamily="34" charset="0"/>
                <a:ea typeface="Cambria" pitchFamily="34" charset="-122"/>
                <a:cs typeface="Cambria" pitchFamily="34" charset="-120"/>
              </a:rPr>
              <a:t>State Architecture &amp; Data Flow</a:t>
            </a:r>
            <a:endParaRPr lang="en-US" sz="3000" dirty="0"/>
          </a:p>
        </p:txBody>
      </p:sp>
      <p:sp>
        <p:nvSpPr>
          <p:cNvPr id="4" name="Shape 2"/>
          <p:cNvSpPr/>
          <p:nvPr/>
        </p:nvSpPr>
        <p:spPr>
          <a:xfrm>
            <a:off x="10360152" y="411480"/>
            <a:ext cx="1280160" cy="457200"/>
          </a:xfrm>
          <a:prstGeom prst="roundRect">
            <a:avLst>
              <a:gd name="adj" fmla="val 50000"/>
            </a:avLst>
          </a:prstGeom>
          <a:solidFill>
            <a:srgbClr val="E8F4F3"/>
          </a:solidFill>
          <a:ln/>
        </p:spPr>
      </p:sp>
      <p:sp>
        <p:nvSpPr>
          <p:cNvPr id="5" name="Text 3"/>
          <p:cNvSpPr/>
          <p:nvPr/>
        </p:nvSpPr>
        <p:spPr>
          <a:xfrm>
            <a:off x="10360152" y="411480"/>
            <a:ext cx="1280160" cy="457200"/>
          </a:xfrm>
          <a:prstGeom prst="rect">
            <a:avLst/>
          </a:prstGeom>
          <a:noFill/>
          <a:ln/>
        </p:spPr>
        <p:txBody>
          <a:bodyPr wrap="square" rtlCol="0" anchor="ctr"/>
          <a:lstStyle/>
          <a:p>
            <a:pPr marL="0" indent="0" algn="ctr">
              <a:buNone/>
            </a:pPr>
            <a:r>
              <a:rPr lang="en-US" sz="1500" b="1" dirty="0">
                <a:solidFill>
                  <a:srgbClr val="0E7C7B"/>
                </a:solidFill>
                <a:latin typeface="Calibri" pitchFamily="34" charset="0"/>
                <a:ea typeface="Calibri" pitchFamily="34" charset="-122"/>
                <a:cs typeface="Calibri" pitchFamily="34" charset="-120"/>
              </a:rPr>
              <a:t>CO4</a:t>
            </a:r>
            <a:endParaRPr lang="en-US" sz="1500" dirty="0"/>
          </a:p>
        </p:txBody>
      </p:sp>
      <p:sp>
        <p:nvSpPr>
          <p:cNvPr id="6" name="Text 4"/>
          <p:cNvSpPr/>
          <p:nvPr/>
        </p:nvSpPr>
        <p:spPr>
          <a:xfrm>
            <a:off x="548640" y="1508760"/>
            <a:ext cx="10881360" cy="594360"/>
          </a:xfrm>
          <a:prstGeom prst="rect">
            <a:avLst/>
          </a:prstGeom>
          <a:noFill/>
          <a:ln/>
        </p:spPr>
        <p:txBody>
          <a:bodyPr wrap="square" rtlCol="0" anchor="ctr"/>
          <a:lstStyle/>
          <a:p>
            <a:pPr marL="0" indent="0">
              <a:lnSpc>
                <a:spcPct val="125000"/>
              </a:lnSpc>
              <a:buNone/>
            </a:pPr>
            <a:r>
              <a:rPr lang="en-US" sz="1500" dirty="0">
                <a:solidFill>
                  <a:srgbClr val="23262B"/>
                </a:solidFill>
                <a:latin typeface="Calibri" pitchFamily="34" charset="0"/>
                <a:ea typeface="Calibri" pitchFamily="34" charset="-122"/>
                <a:cs typeface="Calibri" pitchFamily="34" charset="-120"/>
              </a:rPr>
              <a:t>CO4 deals with where state should live and how data moves through an app. PharmaStock's module layout reflects these state-architecture decisions.</a:t>
            </a:r>
            <a:endParaRPr lang="en-US" sz="1500" dirty="0"/>
          </a:p>
        </p:txBody>
      </p:sp>
      <p:sp>
        <p:nvSpPr>
          <p:cNvPr id="7" name="Text 5"/>
          <p:cNvSpPr/>
          <p:nvPr/>
        </p:nvSpPr>
        <p:spPr>
          <a:xfrm>
            <a:off x="548640" y="2240280"/>
            <a:ext cx="5120640" cy="274320"/>
          </a:xfrm>
          <a:prstGeom prst="rect">
            <a:avLst/>
          </a:prstGeom>
          <a:noFill/>
          <a:ln/>
        </p:spPr>
        <p:txBody>
          <a:bodyPr wrap="square"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CONCEPT WE LEARNED</a:t>
            </a:r>
            <a:endParaRPr lang="en-US" sz="1200" dirty="0"/>
          </a:p>
        </p:txBody>
      </p:sp>
      <p:sp>
        <p:nvSpPr>
          <p:cNvPr id="8" name="Text 6"/>
          <p:cNvSpPr/>
          <p:nvPr/>
        </p:nvSpPr>
        <p:spPr>
          <a:xfrm>
            <a:off x="6035040" y="2240280"/>
            <a:ext cx="5577840" cy="274320"/>
          </a:xfrm>
          <a:prstGeom prst="rect">
            <a:avLst/>
          </a:prstGeom>
          <a:noFill/>
          <a:ln/>
        </p:spPr>
        <p:txBody>
          <a:bodyPr wrap="square" rtlCol="0" anchor="ctr"/>
          <a:lstStyle/>
          <a:p>
            <a:pPr marL="0" indent="0">
              <a:buNone/>
            </a:pPr>
            <a:r>
              <a:rPr lang="en-US" sz="1200" b="1" kern="0" spc="150" dirty="0">
                <a:solidFill>
                  <a:srgbClr val="0E7C7B"/>
                </a:solidFill>
                <a:latin typeface="Calibri" pitchFamily="34" charset="0"/>
                <a:ea typeface="Calibri" pitchFamily="34" charset="-122"/>
                <a:cs typeface="Calibri" pitchFamily="34" charset="-120"/>
              </a:rPr>
              <a:t>HOW WE USED IT IN PHARMASTOCK</a:t>
            </a:r>
            <a:endParaRPr lang="en-US" sz="1200" dirty="0"/>
          </a:p>
        </p:txBody>
      </p:sp>
      <p:sp>
        <p:nvSpPr>
          <p:cNvPr id="9" name="Shape 7"/>
          <p:cNvSpPr/>
          <p:nvPr/>
        </p:nvSpPr>
        <p:spPr>
          <a:xfrm>
            <a:off x="6035040" y="2606040"/>
            <a:ext cx="5577840" cy="3931920"/>
          </a:xfrm>
          <a:prstGeom prst="roundRect">
            <a:avLst>
              <a:gd name="adj" fmla="val 2326"/>
            </a:avLst>
          </a:prstGeom>
          <a:solidFill>
            <a:srgbClr val="F7F9FA"/>
          </a:solidFill>
          <a:ln/>
        </p:spPr>
      </p:sp>
      <p:sp>
        <p:nvSpPr>
          <p:cNvPr id="10" name="Shape 8"/>
          <p:cNvSpPr/>
          <p:nvPr/>
        </p:nvSpPr>
        <p:spPr>
          <a:xfrm>
            <a:off x="704088" y="2697480"/>
            <a:ext cx="146304" cy="146304"/>
          </a:xfrm>
          <a:prstGeom prst="ellipse">
            <a:avLst/>
          </a:prstGeom>
          <a:solidFill>
            <a:srgbClr val="0E7C7B"/>
          </a:solidFill>
          <a:ln/>
        </p:spPr>
      </p:sp>
      <p:sp>
        <p:nvSpPr>
          <p:cNvPr id="11" name="Text 9"/>
          <p:cNvSpPr/>
          <p:nvPr/>
        </p:nvSpPr>
        <p:spPr>
          <a:xfrm>
            <a:off x="1051560" y="2578608"/>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Lifting state up vs co-locating state</a:t>
            </a:r>
            <a:endParaRPr lang="en-US" sz="1400" dirty="0"/>
          </a:p>
        </p:txBody>
      </p:sp>
      <p:sp>
        <p:nvSpPr>
          <p:cNvPr id="12" name="Shape 10"/>
          <p:cNvSpPr/>
          <p:nvPr/>
        </p:nvSpPr>
        <p:spPr>
          <a:xfrm>
            <a:off x="704088" y="3264408"/>
            <a:ext cx="146304" cy="146304"/>
          </a:xfrm>
          <a:prstGeom prst="ellipse">
            <a:avLst/>
          </a:prstGeom>
          <a:solidFill>
            <a:srgbClr val="0E7C7B"/>
          </a:solidFill>
          <a:ln/>
        </p:spPr>
      </p:sp>
      <p:sp>
        <p:nvSpPr>
          <p:cNvPr id="13" name="Text 11"/>
          <p:cNvSpPr/>
          <p:nvPr/>
        </p:nvSpPr>
        <p:spPr>
          <a:xfrm>
            <a:off x="1051560" y="3145536"/>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Global vs local state requirements</a:t>
            </a:r>
            <a:endParaRPr lang="en-US" sz="1400" dirty="0"/>
          </a:p>
        </p:txBody>
      </p:sp>
      <p:sp>
        <p:nvSpPr>
          <p:cNvPr id="14" name="Shape 12"/>
          <p:cNvSpPr/>
          <p:nvPr/>
        </p:nvSpPr>
        <p:spPr>
          <a:xfrm>
            <a:off x="704088" y="3831336"/>
            <a:ext cx="146304" cy="146304"/>
          </a:xfrm>
          <a:prstGeom prst="ellipse">
            <a:avLst/>
          </a:prstGeom>
          <a:solidFill>
            <a:srgbClr val="0E7C7B"/>
          </a:solidFill>
          <a:ln/>
        </p:spPr>
      </p:sp>
      <p:sp>
        <p:nvSpPr>
          <p:cNvPr id="15" name="Text 13"/>
          <p:cNvSpPr/>
          <p:nvPr/>
        </p:nvSpPr>
        <p:spPr>
          <a:xfrm>
            <a:off x="1051560" y="3712464"/>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Container-style page components</a:t>
            </a:r>
            <a:endParaRPr lang="en-US" sz="1400" dirty="0"/>
          </a:p>
        </p:txBody>
      </p:sp>
      <p:sp>
        <p:nvSpPr>
          <p:cNvPr id="16" name="Shape 14"/>
          <p:cNvSpPr/>
          <p:nvPr/>
        </p:nvSpPr>
        <p:spPr>
          <a:xfrm>
            <a:off x="704088" y="4398264"/>
            <a:ext cx="146304" cy="146304"/>
          </a:xfrm>
          <a:prstGeom prst="ellipse">
            <a:avLst/>
          </a:prstGeom>
          <a:solidFill>
            <a:srgbClr val="0E7C7B"/>
          </a:solidFill>
          <a:ln/>
        </p:spPr>
      </p:sp>
      <p:sp>
        <p:nvSpPr>
          <p:cNvPr id="17" name="Text 15"/>
          <p:cNvSpPr/>
          <p:nvPr/>
        </p:nvSpPr>
        <p:spPr>
          <a:xfrm>
            <a:off x="1051560" y="4279392"/>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Designing for future async/API integration</a:t>
            </a:r>
            <a:endParaRPr lang="en-US" sz="1400" dirty="0"/>
          </a:p>
        </p:txBody>
      </p:sp>
      <p:sp>
        <p:nvSpPr>
          <p:cNvPr id="19" name="Text 17"/>
          <p:cNvSpPr/>
          <p:nvPr/>
        </p:nvSpPr>
        <p:spPr>
          <a:xfrm>
            <a:off x="6309360" y="4160520"/>
            <a:ext cx="5120640" cy="740664"/>
          </a:xfrm>
          <a:prstGeom prst="rect">
            <a:avLst/>
          </a:prstGeom>
          <a:noFill/>
          <a:ln/>
        </p:spPr>
        <p:txBody>
          <a:bodyPr wrap="square" rtlCol="0" anchor="ctr"/>
          <a:lstStyle/>
          <a:p>
            <a:pPr>
              <a:lnSpc>
                <a:spcPct val="120000"/>
              </a:lnSpc>
            </a:pPr>
            <a:r>
              <a:rPr lang="en-US" sz="1600" dirty="0">
                <a:solidFill>
                  <a:srgbClr val="6B7280"/>
                </a:solidFill>
                <a:latin typeface="Calibri" pitchFamily="34" charset="0"/>
                <a:ea typeface="Calibri" pitchFamily="34" charset="-122"/>
                <a:cs typeface="Calibri" pitchFamily="34" charset="-120"/>
              </a:rPr>
              <a:t>const </a:t>
            </a:r>
            <a:r>
              <a:rPr lang="en-US" sz="1600" dirty="0" err="1">
                <a:solidFill>
                  <a:srgbClr val="6B7280"/>
                </a:solidFill>
                <a:latin typeface="Calibri" pitchFamily="34" charset="0"/>
                <a:ea typeface="Calibri" pitchFamily="34" charset="-122"/>
                <a:cs typeface="Calibri" pitchFamily="34" charset="-120"/>
              </a:rPr>
              <a:t>lowStockItems</a:t>
            </a:r>
            <a:r>
              <a:rPr lang="en-US" sz="1600" dirty="0">
                <a:solidFill>
                  <a:srgbClr val="6B7280"/>
                </a:solidFill>
                <a:latin typeface="Calibri" pitchFamily="34" charset="0"/>
                <a:ea typeface="Calibri" pitchFamily="34" charset="-122"/>
                <a:cs typeface="Calibri" pitchFamily="34" charset="-120"/>
              </a:rPr>
              <a:t> = </a:t>
            </a:r>
            <a:r>
              <a:rPr lang="en-US" sz="1600" dirty="0" err="1">
                <a:solidFill>
                  <a:srgbClr val="6B7280"/>
                </a:solidFill>
                <a:latin typeface="Calibri" pitchFamily="34" charset="0"/>
                <a:ea typeface="Calibri" pitchFamily="34" charset="-122"/>
                <a:cs typeface="Calibri" pitchFamily="34" charset="-120"/>
              </a:rPr>
              <a:t>medicines.filter</a:t>
            </a:r>
            <a:r>
              <a:rPr lang="en-US" sz="1600" dirty="0">
                <a:solidFill>
                  <a:srgbClr val="6B7280"/>
                </a:solidFill>
                <a:latin typeface="Calibri" pitchFamily="34" charset="0"/>
                <a:ea typeface="Calibri" pitchFamily="34" charset="-122"/>
                <a:cs typeface="Calibri" pitchFamily="34" charset="-120"/>
              </a:rPr>
              <a:t>(</a:t>
            </a:r>
          </a:p>
          <a:p>
            <a:pPr>
              <a:lnSpc>
                <a:spcPct val="120000"/>
              </a:lnSpc>
            </a:pPr>
            <a:r>
              <a:rPr lang="en-US" sz="1600" dirty="0">
                <a:solidFill>
                  <a:srgbClr val="6B7280"/>
                </a:solidFill>
                <a:latin typeface="Calibri" pitchFamily="34" charset="0"/>
                <a:ea typeface="Calibri" pitchFamily="34" charset="-122"/>
                <a:cs typeface="Calibri" pitchFamily="34" charset="-120"/>
              </a:rPr>
              <a:t>  (medicine) =&gt; Number(</a:t>
            </a:r>
            <a:r>
              <a:rPr lang="en-US" sz="1600" dirty="0" err="1">
                <a:solidFill>
                  <a:srgbClr val="6B7280"/>
                </a:solidFill>
                <a:latin typeface="Calibri" pitchFamily="34" charset="0"/>
                <a:ea typeface="Calibri" pitchFamily="34" charset="-122"/>
                <a:cs typeface="Calibri" pitchFamily="34" charset="-120"/>
              </a:rPr>
              <a:t>medicine.quantity</a:t>
            </a:r>
            <a:r>
              <a:rPr lang="en-US" sz="1600" dirty="0">
                <a:solidFill>
                  <a:srgbClr val="6B7280"/>
                </a:solidFill>
                <a:latin typeface="Calibri" pitchFamily="34" charset="0"/>
                <a:ea typeface="Calibri" pitchFamily="34" charset="-122"/>
                <a:cs typeface="Calibri" pitchFamily="34" charset="-120"/>
              </a:rPr>
              <a:t>) &lt; 20</a:t>
            </a:r>
          </a:p>
          <a:p>
            <a:pPr>
              <a:lnSpc>
                <a:spcPct val="120000"/>
              </a:lnSpc>
            </a:pPr>
            <a:r>
              <a:rPr lang="en-US" sz="1600" dirty="0">
                <a:solidFill>
                  <a:srgbClr val="6B7280"/>
                </a:solidFill>
                <a:latin typeface="Calibri" pitchFamily="34" charset="0"/>
                <a:ea typeface="Calibri" pitchFamily="34" charset="-122"/>
                <a:cs typeface="Calibri" pitchFamily="34" charset="-120"/>
              </a:rPr>
              <a:t>);</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a:solidFill>
                  <a:srgbClr val="6B7280"/>
                </a:solidFill>
                <a:latin typeface="Calibri" pitchFamily="34" charset="0"/>
                <a:ea typeface="Calibri" pitchFamily="34" charset="-122"/>
                <a:cs typeface="Calibri" pitchFamily="34" charset="-120"/>
              </a:rPr>
              <a:t>const </a:t>
            </a:r>
            <a:r>
              <a:rPr lang="en-US" sz="1600" dirty="0" err="1">
                <a:solidFill>
                  <a:srgbClr val="6B7280"/>
                </a:solidFill>
                <a:latin typeface="Calibri" pitchFamily="34" charset="0"/>
                <a:ea typeface="Calibri" pitchFamily="34" charset="-122"/>
                <a:cs typeface="Calibri" pitchFamily="34" charset="-120"/>
              </a:rPr>
              <a:t>expiryItems</a:t>
            </a:r>
            <a:r>
              <a:rPr lang="en-US" sz="1600" dirty="0">
                <a:solidFill>
                  <a:srgbClr val="6B7280"/>
                </a:solidFill>
                <a:latin typeface="Calibri" pitchFamily="34" charset="0"/>
                <a:ea typeface="Calibri" pitchFamily="34" charset="-122"/>
                <a:cs typeface="Calibri" pitchFamily="34" charset="-120"/>
              </a:rPr>
              <a:t> = </a:t>
            </a:r>
            <a:r>
              <a:rPr lang="en-US" sz="1600" dirty="0" err="1">
                <a:solidFill>
                  <a:srgbClr val="6B7280"/>
                </a:solidFill>
                <a:latin typeface="Calibri" pitchFamily="34" charset="0"/>
                <a:ea typeface="Calibri" pitchFamily="34" charset="-122"/>
                <a:cs typeface="Calibri" pitchFamily="34" charset="-120"/>
              </a:rPr>
              <a:t>medicines.filter</a:t>
            </a:r>
            <a:r>
              <a:rPr lang="en-US" sz="1600" dirty="0">
                <a:solidFill>
                  <a:srgbClr val="6B7280"/>
                </a:solidFill>
                <a:latin typeface="Calibri" pitchFamily="34" charset="0"/>
                <a:ea typeface="Calibri" pitchFamily="34" charset="-122"/>
                <a:cs typeface="Calibri" pitchFamily="34" charset="-120"/>
              </a:rPr>
              <a:t>((medicine) =&gt; {</a:t>
            </a:r>
          </a:p>
          <a:p>
            <a:pPr>
              <a:lnSpc>
                <a:spcPct val="120000"/>
              </a:lnSpc>
            </a:pPr>
            <a:r>
              <a:rPr lang="en-US" sz="1600" dirty="0">
                <a:solidFill>
                  <a:srgbClr val="6B7280"/>
                </a:solidFill>
                <a:latin typeface="Calibri" pitchFamily="34" charset="0"/>
                <a:ea typeface="Calibri" pitchFamily="34" charset="-122"/>
                <a:cs typeface="Calibri" pitchFamily="34" charset="-120"/>
              </a:rPr>
              <a:t>  const </a:t>
            </a:r>
            <a:r>
              <a:rPr lang="en-US" sz="1600" dirty="0" err="1">
                <a:solidFill>
                  <a:srgbClr val="6B7280"/>
                </a:solidFill>
                <a:latin typeface="Calibri" pitchFamily="34" charset="0"/>
                <a:ea typeface="Calibri" pitchFamily="34" charset="-122"/>
                <a:cs typeface="Calibri" pitchFamily="34" charset="-120"/>
              </a:rPr>
              <a:t>expiryDate</a:t>
            </a:r>
            <a:r>
              <a:rPr lang="en-US" sz="1600" dirty="0">
                <a:solidFill>
                  <a:srgbClr val="6B7280"/>
                </a:solidFill>
                <a:latin typeface="Calibri" pitchFamily="34" charset="0"/>
                <a:ea typeface="Calibri" pitchFamily="34" charset="-122"/>
                <a:cs typeface="Calibri" pitchFamily="34" charset="-120"/>
              </a:rPr>
              <a:t> = new Date(</a:t>
            </a:r>
            <a:r>
              <a:rPr lang="en-US" sz="1600" dirty="0" err="1">
                <a:solidFill>
                  <a:srgbClr val="6B7280"/>
                </a:solidFill>
                <a:latin typeface="Calibri" pitchFamily="34" charset="0"/>
                <a:ea typeface="Calibri" pitchFamily="34" charset="-122"/>
                <a:cs typeface="Calibri" pitchFamily="34" charset="-120"/>
              </a:rPr>
              <a:t>medicine.expiryDate</a:t>
            </a:r>
            <a:r>
              <a:rPr lang="en-US" sz="1600" dirty="0">
                <a:solidFill>
                  <a:srgbClr val="6B7280"/>
                </a:solidFill>
                <a:latin typeface="Calibri" pitchFamily="34" charset="0"/>
                <a:ea typeface="Calibri" pitchFamily="34" charset="-122"/>
                <a:cs typeface="Calibri" pitchFamily="34" charset="-120"/>
              </a:rPr>
              <a:t>);</a:t>
            </a:r>
          </a:p>
          <a:p>
            <a:pPr>
              <a:lnSpc>
                <a:spcPct val="120000"/>
              </a:lnSpc>
            </a:pPr>
            <a:r>
              <a:rPr lang="en-US" sz="1600" dirty="0">
                <a:solidFill>
                  <a:srgbClr val="6B7280"/>
                </a:solidFill>
                <a:latin typeface="Calibri" pitchFamily="34" charset="0"/>
                <a:ea typeface="Calibri" pitchFamily="34" charset="-122"/>
                <a:cs typeface="Calibri" pitchFamily="34" charset="-120"/>
              </a:rPr>
              <a:t>  const today = new Date();</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a:solidFill>
                  <a:srgbClr val="6B7280"/>
                </a:solidFill>
                <a:latin typeface="Calibri" pitchFamily="34" charset="0"/>
                <a:ea typeface="Calibri" pitchFamily="34" charset="-122"/>
                <a:cs typeface="Calibri" pitchFamily="34" charset="-120"/>
              </a:rPr>
              <a:t>  const difference =</a:t>
            </a:r>
          </a:p>
          <a:p>
            <a:pPr>
              <a:lnSpc>
                <a:spcPct val="120000"/>
              </a:lnSpc>
            </a:pPr>
            <a:r>
              <a:rPr lang="en-US" sz="1600" dirty="0">
                <a:solidFill>
                  <a:srgbClr val="6B7280"/>
                </a:solidFill>
                <a:latin typeface="Calibri" pitchFamily="34" charset="0"/>
                <a:ea typeface="Calibri" pitchFamily="34" charset="-122"/>
                <a:cs typeface="Calibri" pitchFamily="34" charset="-120"/>
              </a:rPr>
              <a:t>    (</a:t>
            </a:r>
            <a:r>
              <a:rPr lang="en-US" sz="1600" dirty="0" err="1">
                <a:solidFill>
                  <a:srgbClr val="6B7280"/>
                </a:solidFill>
                <a:latin typeface="Calibri" pitchFamily="34" charset="0"/>
                <a:ea typeface="Calibri" pitchFamily="34" charset="-122"/>
                <a:cs typeface="Calibri" pitchFamily="34" charset="-120"/>
              </a:rPr>
              <a:t>expiryDate</a:t>
            </a:r>
            <a:r>
              <a:rPr lang="en-US" sz="1600" dirty="0">
                <a:solidFill>
                  <a:srgbClr val="6B7280"/>
                </a:solidFill>
                <a:latin typeface="Calibri" pitchFamily="34" charset="0"/>
                <a:ea typeface="Calibri" pitchFamily="34" charset="-122"/>
                <a:cs typeface="Calibri" pitchFamily="34" charset="-120"/>
              </a:rPr>
              <a:t> - today) / (1000 * 60 * 60 * 24);</a:t>
            </a:r>
          </a:p>
          <a:p>
            <a:pPr>
              <a:lnSpc>
                <a:spcPct val="120000"/>
              </a:lnSpc>
            </a:pPr>
            <a:endParaRPr lang="en-US" sz="1600" dirty="0">
              <a:solidFill>
                <a:srgbClr val="6B7280"/>
              </a:solidFill>
              <a:latin typeface="Calibri" pitchFamily="34" charset="0"/>
              <a:ea typeface="Calibri" pitchFamily="34" charset="-122"/>
              <a:cs typeface="Calibri" pitchFamily="34" charset="-120"/>
            </a:endParaRPr>
          </a:p>
          <a:p>
            <a:pPr>
              <a:lnSpc>
                <a:spcPct val="120000"/>
              </a:lnSpc>
            </a:pPr>
            <a:r>
              <a:rPr lang="en-US" sz="1600" dirty="0">
                <a:solidFill>
                  <a:srgbClr val="6B7280"/>
                </a:solidFill>
                <a:latin typeface="Calibri" pitchFamily="34" charset="0"/>
                <a:ea typeface="Calibri" pitchFamily="34" charset="-122"/>
                <a:cs typeface="Calibri" pitchFamily="34" charset="-120"/>
              </a:rPr>
              <a:t>  return difference &lt;= 30;</a:t>
            </a:r>
          </a:p>
          <a:p>
            <a:pPr>
              <a:lnSpc>
                <a:spcPct val="120000"/>
              </a:lnSpc>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COURSE OUTCOME 5</a:t>
            </a:r>
            <a:endParaRPr lang="en-US" sz="1300" dirty="0"/>
          </a:p>
        </p:txBody>
      </p:sp>
      <p:sp>
        <p:nvSpPr>
          <p:cNvPr id="3" name="Text 1"/>
          <p:cNvSpPr/>
          <p:nvPr/>
        </p:nvSpPr>
        <p:spPr>
          <a:xfrm>
            <a:off x="548640" y="685800"/>
            <a:ext cx="8961120" cy="731520"/>
          </a:xfrm>
          <a:prstGeom prst="rect">
            <a:avLst/>
          </a:prstGeom>
          <a:noFill/>
          <a:ln/>
        </p:spPr>
        <p:txBody>
          <a:bodyPr wrap="square" rtlCol="0" anchor="ctr"/>
          <a:lstStyle/>
          <a:p>
            <a:pPr marL="0" indent="0">
              <a:buNone/>
            </a:pPr>
            <a:r>
              <a:rPr lang="en-US" sz="3000" b="1" dirty="0">
                <a:solidFill>
                  <a:srgbClr val="23262B"/>
                </a:solidFill>
                <a:latin typeface="Cambria" pitchFamily="34" charset="0"/>
                <a:ea typeface="Cambria" pitchFamily="34" charset="-122"/>
                <a:cs typeface="Cambria" pitchFamily="34" charset="-120"/>
              </a:rPr>
              <a:t>Routing, Forms &amp; Accessibility</a:t>
            </a:r>
            <a:endParaRPr lang="en-US" sz="3000" dirty="0"/>
          </a:p>
        </p:txBody>
      </p:sp>
      <p:sp>
        <p:nvSpPr>
          <p:cNvPr id="4" name="Shape 2"/>
          <p:cNvSpPr/>
          <p:nvPr/>
        </p:nvSpPr>
        <p:spPr>
          <a:xfrm>
            <a:off x="10360152" y="411480"/>
            <a:ext cx="1280160" cy="457200"/>
          </a:xfrm>
          <a:prstGeom prst="roundRect">
            <a:avLst>
              <a:gd name="adj" fmla="val 50000"/>
            </a:avLst>
          </a:prstGeom>
          <a:solidFill>
            <a:srgbClr val="E8F4F3"/>
          </a:solidFill>
          <a:ln/>
        </p:spPr>
      </p:sp>
      <p:sp>
        <p:nvSpPr>
          <p:cNvPr id="5" name="Text 3"/>
          <p:cNvSpPr/>
          <p:nvPr/>
        </p:nvSpPr>
        <p:spPr>
          <a:xfrm>
            <a:off x="10360152" y="411480"/>
            <a:ext cx="1280160" cy="457200"/>
          </a:xfrm>
          <a:prstGeom prst="rect">
            <a:avLst/>
          </a:prstGeom>
          <a:noFill/>
          <a:ln/>
        </p:spPr>
        <p:txBody>
          <a:bodyPr wrap="square" rtlCol="0" anchor="ctr"/>
          <a:lstStyle/>
          <a:p>
            <a:pPr marL="0" indent="0" algn="ctr">
              <a:buNone/>
            </a:pPr>
            <a:r>
              <a:rPr lang="en-US" sz="1500" b="1" dirty="0">
                <a:solidFill>
                  <a:srgbClr val="0E7C7B"/>
                </a:solidFill>
                <a:latin typeface="Calibri" pitchFamily="34" charset="0"/>
                <a:ea typeface="Calibri" pitchFamily="34" charset="-122"/>
                <a:cs typeface="Calibri" pitchFamily="34" charset="-120"/>
              </a:rPr>
              <a:t>CO5</a:t>
            </a:r>
            <a:endParaRPr lang="en-US" sz="1500" dirty="0"/>
          </a:p>
        </p:txBody>
      </p:sp>
      <p:sp>
        <p:nvSpPr>
          <p:cNvPr id="6" name="Text 4"/>
          <p:cNvSpPr/>
          <p:nvPr/>
        </p:nvSpPr>
        <p:spPr>
          <a:xfrm>
            <a:off x="548640" y="1508760"/>
            <a:ext cx="10881360" cy="594360"/>
          </a:xfrm>
          <a:prstGeom prst="rect">
            <a:avLst/>
          </a:prstGeom>
          <a:noFill/>
          <a:ln/>
        </p:spPr>
        <p:txBody>
          <a:bodyPr wrap="square" rtlCol="0" anchor="ctr"/>
          <a:lstStyle/>
          <a:p>
            <a:pPr marL="0" indent="0">
              <a:lnSpc>
                <a:spcPct val="125000"/>
              </a:lnSpc>
              <a:buNone/>
            </a:pPr>
            <a:r>
              <a:rPr lang="en-US" sz="1500" dirty="0">
                <a:solidFill>
                  <a:srgbClr val="23262B"/>
                </a:solidFill>
                <a:latin typeface="Calibri" pitchFamily="34" charset="0"/>
                <a:ea typeface="Calibri" pitchFamily="34" charset="-122"/>
                <a:cs typeface="Calibri" pitchFamily="34" charset="-120"/>
              </a:rPr>
              <a:t>CO5 covers how users move through an app and how forms are engineered. This is one of the most visible parts of PharmaStock, since it has many distinct screens.</a:t>
            </a:r>
            <a:endParaRPr lang="en-US" sz="1500" dirty="0"/>
          </a:p>
        </p:txBody>
      </p:sp>
      <p:sp>
        <p:nvSpPr>
          <p:cNvPr id="7" name="Text 5"/>
          <p:cNvSpPr/>
          <p:nvPr/>
        </p:nvSpPr>
        <p:spPr>
          <a:xfrm>
            <a:off x="548640" y="2240280"/>
            <a:ext cx="5120640" cy="274320"/>
          </a:xfrm>
          <a:prstGeom prst="rect">
            <a:avLst/>
          </a:prstGeom>
          <a:noFill/>
          <a:ln/>
        </p:spPr>
        <p:txBody>
          <a:bodyPr wrap="square"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CONCEPT WE LEARNED</a:t>
            </a:r>
            <a:endParaRPr lang="en-US" sz="1200" dirty="0"/>
          </a:p>
        </p:txBody>
      </p:sp>
      <p:sp>
        <p:nvSpPr>
          <p:cNvPr id="8" name="Text 6"/>
          <p:cNvSpPr/>
          <p:nvPr/>
        </p:nvSpPr>
        <p:spPr>
          <a:xfrm>
            <a:off x="6035040" y="2240280"/>
            <a:ext cx="5577840" cy="274320"/>
          </a:xfrm>
          <a:prstGeom prst="rect">
            <a:avLst/>
          </a:prstGeom>
          <a:noFill/>
          <a:ln/>
        </p:spPr>
        <p:txBody>
          <a:bodyPr wrap="square" rtlCol="0" anchor="ctr"/>
          <a:lstStyle/>
          <a:p>
            <a:pPr marL="0" indent="0">
              <a:buNone/>
            </a:pPr>
            <a:r>
              <a:rPr lang="en-US" sz="1200" b="1" kern="0" spc="150" dirty="0">
                <a:solidFill>
                  <a:srgbClr val="0E7C7B"/>
                </a:solidFill>
                <a:latin typeface="Calibri" pitchFamily="34" charset="0"/>
                <a:ea typeface="Calibri" pitchFamily="34" charset="-122"/>
                <a:cs typeface="Calibri" pitchFamily="34" charset="-120"/>
              </a:rPr>
              <a:t>HOW WE USED IT IN PHARMASTOCK</a:t>
            </a:r>
            <a:endParaRPr lang="en-US" sz="1200" dirty="0"/>
          </a:p>
        </p:txBody>
      </p:sp>
      <p:sp>
        <p:nvSpPr>
          <p:cNvPr id="9" name="Shape 7"/>
          <p:cNvSpPr/>
          <p:nvPr/>
        </p:nvSpPr>
        <p:spPr>
          <a:xfrm>
            <a:off x="6035040" y="2606040"/>
            <a:ext cx="5577840" cy="3931920"/>
          </a:xfrm>
          <a:prstGeom prst="roundRect">
            <a:avLst>
              <a:gd name="adj" fmla="val 2326"/>
            </a:avLst>
          </a:prstGeom>
          <a:solidFill>
            <a:srgbClr val="F7F9FA"/>
          </a:solidFill>
          <a:ln/>
        </p:spPr>
      </p:sp>
      <p:sp>
        <p:nvSpPr>
          <p:cNvPr id="10" name="Shape 8"/>
          <p:cNvSpPr/>
          <p:nvPr/>
        </p:nvSpPr>
        <p:spPr>
          <a:xfrm>
            <a:off x="704088" y="2697480"/>
            <a:ext cx="146304" cy="146304"/>
          </a:xfrm>
          <a:prstGeom prst="ellipse">
            <a:avLst/>
          </a:prstGeom>
          <a:solidFill>
            <a:srgbClr val="0E7C7B"/>
          </a:solidFill>
          <a:ln/>
        </p:spPr>
      </p:sp>
      <p:sp>
        <p:nvSpPr>
          <p:cNvPr id="11" name="Text 9"/>
          <p:cNvSpPr/>
          <p:nvPr/>
        </p:nvSpPr>
        <p:spPr>
          <a:xfrm>
            <a:off x="1051560" y="2578608"/>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SPA routing fundamentals</a:t>
            </a:r>
            <a:endParaRPr lang="en-US" sz="1400" dirty="0"/>
          </a:p>
        </p:txBody>
      </p:sp>
      <p:sp>
        <p:nvSpPr>
          <p:cNvPr id="12" name="Shape 10"/>
          <p:cNvSpPr/>
          <p:nvPr/>
        </p:nvSpPr>
        <p:spPr>
          <a:xfrm>
            <a:off x="704088" y="3264408"/>
            <a:ext cx="146304" cy="146304"/>
          </a:xfrm>
          <a:prstGeom prst="ellipse">
            <a:avLst/>
          </a:prstGeom>
          <a:solidFill>
            <a:srgbClr val="0E7C7B"/>
          </a:solidFill>
          <a:ln/>
        </p:spPr>
      </p:sp>
      <p:sp>
        <p:nvSpPr>
          <p:cNvPr id="13" name="Text 11"/>
          <p:cNvSpPr/>
          <p:nvPr/>
        </p:nvSpPr>
        <p:spPr>
          <a:xfrm>
            <a:off x="1051560" y="3145536"/>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Form engineering &amp; controlled inputs</a:t>
            </a:r>
            <a:endParaRPr lang="en-US" sz="1400" dirty="0"/>
          </a:p>
        </p:txBody>
      </p:sp>
      <p:sp>
        <p:nvSpPr>
          <p:cNvPr id="14" name="Shape 12"/>
          <p:cNvSpPr/>
          <p:nvPr/>
        </p:nvSpPr>
        <p:spPr>
          <a:xfrm>
            <a:off x="704088" y="3831336"/>
            <a:ext cx="146304" cy="146304"/>
          </a:xfrm>
          <a:prstGeom prst="ellipse">
            <a:avLst/>
          </a:prstGeom>
          <a:solidFill>
            <a:srgbClr val="0E7C7B"/>
          </a:solidFill>
          <a:ln/>
        </p:spPr>
      </p:sp>
      <p:sp>
        <p:nvSpPr>
          <p:cNvPr id="15" name="Text 13"/>
          <p:cNvSpPr/>
          <p:nvPr/>
        </p:nvSpPr>
        <p:spPr>
          <a:xfrm>
            <a:off x="1051560" y="3712464"/>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Accessibility basics: contrast, keyboard flow</a:t>
            </a:r>
            <a:endParaRPr lang="en-US" sz="1400" dirty="0"/>
          </a:p>
        </p:txBody>
      </p:sp>
      <p:sp>
        <p:nvSpPr>
          <p:cNvPr id="16" name="Shape 14"/>
          <p:cNvSpPr/>
          <p:nvPr/>
        </p:nvSpPr>
        <p:spPr>
          <a:xfrm>
            <a:off x="704088" y="4398264"/>
            <a:ext cx="146304" cy="146304"/>
          </a:xfrm>
          <a:prstGeom prst="ellipse">
            <a:avLst/>
          </a:prstGeom>
          <a:solidFill>
            <a:srgbClr val="0E7C7B"/>
          </a:solidFill>
          <a:ln/>
        </p:spPr>
      </p:sp>
      <p:sp>
        <p:nvSpPr>
          <p:cNvPr id="17" name="Text 15"/>
          <p:cNvSpPr/>
          <p:nvPr/>
        </p:nvSpPr>
        <p:spPr>
          <a:xfrm>
            <a:off x="1051560" y="4279392"/>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Performance-aware UI structuring</a:t>
            </a:r>
            <a:endParaRPr lang="en-US" sz="1400" dirty="0"/>
          </a:p>
        </p:txBody>
      </p:sp>
      <p:sp>
        <p:nvSpPr>
          <p:cNvPr id="19" name="Text 17"/>
          <p:cNvSpPr/>
          <p:nvPr/>
        </p:nvSpPr>
        <p:spPr>
          <a:xfrm>
            <a:off x="6263640" y="4215384"/>
            <a:ext cx="5120640" cy="740664"/>
          </a:xfrm>
          <a:prstGeom prst="rect">
            <a:avLst/>
          </a:prstGeom>
          <a:noFill/>
          <a:ln/>
        </p:spPr>
        <p:txBody>
          <a:bodyPr wrap="square" rtlCol="0" anchor="ctr"/>
          <a:lstStyle/>
          <a:p>
            <a:pPr>
              <a:lnSpc>
                <a:spcPct val="120000"/>
              </a:lnSpc>
            </a:pPr>
            <a:r>
              <a:rPr lang="en-US" sz="1400" dirty="0">
                <a:solidFill>
                  <a:srgbClr val="6B7280"/>
                </a:solidFill>
                <a:latin typeface="Calibri" pitchFamily="34" charset="0"/>
                <a:ea typeface="Calibri" pitchFamily="34" charset="-122"/>
                <a:cs typeface="Calibri" pitchFamily="34" charset="-120"/>
              </a:rPr>
              <a:t>&lt;</a:t>
            </a:r>
            <a:r>
              <a:rPr lang="en-US" sz="1400" dirty="0" err="1">
                <a:solidFill>
                  <a:srgbClr val="6B7280"/>
                </a:solidFill>
                <a:latin typeface="Calibri" pitchFamily="34" charset="0"/>
                <a:ea typeface="Calibri" pitchFamily="34" charset="-122"/>
                <a:cs typeface="Calibri" pitchFamily="34" charset="-120"/>
              </a:rPr>
              <a:t>BrowserRouter</a:t>
            </a:r>
            <a:r>
              <a:rPr lang="en-US" sz="1400" dirty="0">
                <a:solidFill>
                  <a:srgbClr val="6B7280"/>
                </a:solidFill>
                <a:latin typeface="Calibri" pitchFamily="34" charset="0"/>
                <a:ea typeface="Calibri" pitchFamily="34" charset="-122"/>
                <a:cs typeface="Calibri" pitchFamily="34" charset="-120"/>
              </a:rPr>
              <a:t>&gt;</a:t>
            </a:r>
          </a:p>
          <a:p>
            <a:pPr>
              <a:lnSpc>
                <a:spcPct val="120000"/>
              </a:lnSpc>
            </a:pPr>
            <a:r>
              <a:rPr lang="en-US" sz="1400" dirty="0">
                <a:solidFill>
                  <a:srgbClr val="6B7280"/>
                </a:solidFill>
                <a:latin typeface="Calibri" pitchFamily="34" charset="0"/>
                <a:ea typeface="Calibri" pitchFamily="34" charset="-122"/>
                <a:cs typeface="Calibri" pitchFamily="34" charset="-120"/>
              </a:rPr>
              <a:t>  &lt;Routes&gt;</a:t>
            </a:r>
          </a:p>
          <a:p>
            <a:pPr>
              <a:lnSpc>
                <a:spcPct val="120000"/>
              </a:lnSpc>
            </a:pPr>
            <a:r>
              <a:rPr lang="en-US" sz="1400" dirty="0">
                <a:solidFill>
                  <a:srgbClr val="6B7280"/>
                </a:solidFill>
                <a:latin typeface="Calibri" pitchFamily="34" charset="0"/>
                <a:ea typeface="Calibri" pitchFamily="34" charset="-122"/>
                <a:cs typeface="Calibri" pitchFamily="34" charset="-120"/>
              </a:rPr>
              <a:t>    &lt;Route path="/" element={&lt;Signup /&gt;} /&gt;</a:t>
            </a:r>
          </a:p>
          <a:p>
            <a:pPr>
              <a:lnSpc>
                <a:spcPct val="120000"/>
              </a:lnSpc>
            </a:pPr>
            <a:r>
              <a:rPr lang="en-US" sz="1400" dirty="0">
                <a:solidFill>
                  <a:srgbClr val="6B7280"/>
                </a:solidFill>
                <a:latin typeface="Calibri" pitchFamily="34" charset="0"/>
                <a:ea typeface="Calibri" pitchFamily="34" charset="-122"/>
                <a:cs typeface="Calibri" pitchFamily="34" charset="-120"/>
              </a:rPr>
              <a:t>    &lt;Route path="/login" element={&lt;Login /&gt;} /&gt;</a:t>
            </a:r>
          </a:p>
          <a:p>
            <a:pPr>
              <a:lnSpc>
                <a:spcPct val="120000"/>
              </a:lnSpc>
            </a:pPr>
            <a:r>
              <a:rPr lang="en-US" sz="1400" dirty="0">
                <a:solidFill>
                  <a:srgbClr val="6B7280"/>
                </a:solidFill>
                <a:latin typeface="Calibri" pitchFamily="34" charset="0"/>
                <a:ea typeface="Calibri" pitchFamily="34" charset="-122"/>
                <a:cs typeface="Calibri" pitchFamily="34" charset="-120"/>
              </a:rPr>
              <a:t>    &lt;Route path="/dashboard" element={&lt;Dashboard /&gt;} /&gt;</a:t>
            </a:r>
          </a:p>
          <a:p>
            <a:pPr>
              <a:lnSpc>
                <a:spcPct val="120000"/>
              </a:lnSpc>
            </a:pPr>
            <a:r>
              <a:rPr lang="en-US" sz="1400" dirty="0">
                <a:solidFill>
                  <a:srgbClr val="6B7280"/>
                </a:solidFill>
                <a:latin typeface="Calibri" pitchFamily="34" charset="0"/>
                <a:ea typeface="Calibri" pitchFamily="34" charset="-122"/>
                <a:cs typeface="Calibri" pitchFamily="34" charset="-120"/>
              </a:rPr>
              <a:t>    &lt;Route path="/stock" element={&lt;</a:t>
            </a:r>
            <a:r>
              <a:rPr lang="en-US" sz="1400" dirty="0" err="1">
                <a:solidFill>
                  <a:srgbClr val="6B7280"/>
                </a:solidFill>
                <a:latin typeface="Calibri" pitchFamily="34" charset="0"/>
                <a:ea typeface="Calibri" pitchFamily="34" charset="-122"/>
                <a:cs typeface="Calibri" pitchFamily="34" charset="-120"/>
              </a:rPr>
              <a:t>StockList</a:t>
            </a:r>
            <a:r>
              <a:rPr lang="en-US" sz="1400" dirty="0">
                <a:solidFill>
                  <a:srgbClr val="6B7280"/>
                </a:solidFill>
                <a:latin typeface="Calibri" pitchFamily="34" charset="0"/>
                <a:ea typeface="Calibri" pitchFamily="34" charset="-122"/>
                <a:cs typeface="Calibri" pitchFamily="34" charset="-120"/>
              </a:rPr>
              <a:t> /&gt;} /&gt;</a:t>
            </a:r>
          </a:p>
          <a:p>
            <a:pPr>
              <a:lnSpc>
                <a:spcPct val="120000"/>
              </a:lnSpc>
            </a:pPr>
            <a:r>
              <a:rPr lang="en-US" sz="1400" dirty="0">
                <a:solidFill>
                  <a:srgbClr val="6B7280"/>
                </a:solidFill>
                <a:latin typeface="Calibri" pitchFamily="34" charset="0"/>
                <a:ea typeface="Calibri" pitchFamily="34" charset="-122"/>
                <a:cs typeface="Calibri" pitchFamily="34" charset="-120"/>
              </a:rPr>
              <a:t>  &lt;/Routes&gt;</a:t>
            </a:r>
          </a:p>
          <a:p>
            <a:pPr>
              <a:lnSpc>
                <a:spcPct val="120000"/>
              </a:lnSpc>
            </a:pPr>
            <a:r>
              <a:rPr lang="en-US" sz="1400" dirty="0">
                <a:solidFill>
                  <a:srgbClr val="6B7280"/>
                </a:solidFill>
                <a:latin typeface="Calibri" pitchFamily="34" charset="0"/>
                <a:ea typeface="Calibri" pitchFamily="34" charset="-122"/>
                <a:cs typeface="Calibri" pitchFamily="34" charset="-120"/>
              </a:rPr>
              <a:t>&lt;/</a:t>
            </a:r>
            <a:r>
              <a:rPr lang="en-US" sz="1400" dirty="0" err="1">
                <a:solidFill>
                  <a:srgbClr val="6B7280"/>
                </a:solidFill>
                <a:latin typeface="Calibri" pitchFamily="34" charset="0"/>
                <a:ea typeface="Calibri" pitchFamily="34" charset="-122"/>
                <a:cs typeface="Calibri" pitchFamily="34" charset="-120"/>
              </a:rPr>
              <a:t>BrowserRouter</a:t>
            </a:r>
            <a:r>
              <a:rPr lang="en-US" sz="1400" dirty="0">
                <a:solidFill>
                  <a:srgbClr val="6B7280"/>
                </a:solidFill>
                <a:latin typeface="Calibri" pitchFamily="34" charset="0"/>
                <a:ea typeface="Calibri" pitchFamily="34" charset="-122"/>
                <a:cs typeface="Calibri" pitchFamily="34" charset="-120"/>
              </a:rPr>
              <a:t>&gt; </a:t>
            </a:r>
          </a:p>
          <a:p>
            <a:pPr>
              <a:lnSpc>
                <a:spcPct val="120000"/>
              </a:lnSpc>
            </a:pPr>
            <a:endParaRPr lang="en-US" sz="1400" dirty="0">
              <a:solidFill>
                <a:srgbClr val="6B7280"/>
              </a:solidFill>
              <a:latin typeface="Calibri" pitchFamily="34" charset="0"/>
              <a:ea typeface="Calibri" pitchFamily="34" charset="-122"/>
              <a:cs typeface="Calibri" pitchFamily="34" charset="-120"/>
            </a:endParaRPr>
          </a:p>
          <a:p>
            <a:pPr>
              <a:lnSpc>
                <a:spcPct val="120000"/>
              </a:lnSpc>
            </a:pPr>
            <a:r>
              <a:rPr lang="en-US" sz="1400" dirty="0">
                <a:solidFill>
                  <a:srgbClr val="6B7280"/>
                </a:solidFill>
                <a:latin typeface="Calibri" pitchFamily="34" charset="0"/>
                <a:ea typeface="Calibri" pitchFamily="34" charset="-122"/>
                <a:cs typeface="Calibri" pitchFamily="34" charset="-120"/>
              </a:rPr>
              <a:t>const navigate = </a:t>
            </a:r>
            <a:r>
              <a:rPr lang="en-US" sz="1400" dirty="0" err="1">
                <a:solidFill>
                  <a:srgbClr val="6B7280"/>
                </a:solidFill>
                <a:latin typeface="Calibri" pitchFamily="34" charset="0"/>
                <a:ea typeface="Calibri" pitchFamily="34" charset="-122"/>
                <a:cs typeface="Calibri" pitchFamily="34" charset="-120"/>
              </a:rPr>
              <a:t>useNavigate</a:t>
            </a:r>
            <a:r>
              <a:rPr lang="en-US" sz="1400" dirty="0">
                <a:solidFill>
                  <a:srgbClr val="6B7280"/>
                </a:solidFill>
                <a:latin typeface="Calibri" pitchFamily="34" charset="0"/>
                <a:ea typeface="Calibri" pitchFamily="34" charset="-122"/>
                <a:cs typeface="Calibri" pitchFamily="34" charset="-120"/>
              </a:rPr>
              <a:t>();</a:t>
            </a:r>
          </a:p>
          <a:p>
            <a:pPr>
              <a:lnSpc>
                <a:spcPct val="120000"/>
              </a:lnSpc>
            </a:pPr>
            <a:endParaRPr lang="en-US" sz="1400" dirty="0">
              <a:solidFill>
                <a:srgbClr val="6B7280"/>
              </a:solidFill>
              <a:latin typeface="Calibri" pitchFamily="34" charset="0"/>
              <a:ea typeface="Calibri" pitchFamily="34" charset="-122"/>
              <a:cs typeface="Calibri" pitchFamily="34" charset="-120"/>
            </a:endParaRPr>
          </a:p>
          <a:p>
            <a:pPr>
              <a:lnSpc>
                <a:spcPct val="120000"/>
              </a:lnSpc>
            </a:pPr>
            <a:r>
              <a:rPr lang="en-US" sz="1400" dirty="0">
                <a:solidFill>
                  <a:srgbClr val="6B7280"/>
                </a:solidFill>
                <a:latin typeface="Calibri" pitchFamily="34" charset="0"/>
                <a:ea typeface="Calibri" pitchFamily="34" charset="-122"/>
                <a:cs typeface="Calibri" pitchFamily="34" charset="-120"/>
              </a:rPr>
              <a:t>const </a:t>
            </a:r>
            <a:r>
              <a:rPr lang="en-US" sz="1400" dirty="0" err="1">
                <a:solidFill>
                  <a:srgbClr val="6B7280"/>
                </a:solidFill>
                <a:latin typeface="Calibri" pitchFamily="34" charset="0"/>
                <a:ea typeface="Calibri" pitchFamily="34" charset="-122"/>
                <a:cs typeface="Calibri" pitchFamily="34" charset="-120"/>
              </a:rPr>
              <a:t>handleLogout</a:t>
            </a:r>
            <a:r>
              <a:rPr lang="en-US" sz="1400" dirty="0">
                <a:solidFill>
                  <a:srgbClr val="6B7280"/>
                </a:solidFill>
                <a:latin typeface="Calibri" pitchFamily="34" charset="0"/>
                <a:ea typeface="Calibri" pitchFamily="34" charset="-122"/>
                <a:cs typeface="Calibri" pitchFamily="34" charset="-120"/>
              </a:rPr>
              <a:t> = () =&gt; {</a:t>
            </a:r>
          </a:p>
          <a:p>
            <a:pPr>
              <a:lnSpc>
                <a:spcPct val="120000"/>
              </a:lnSpc>
            </a:pPr>
            <a:r>
              <a:rPr lang="en-US" sz="1400" dirty="0">
                <a:solidFill>
                  <a:srgbClr val="6B7280"/>
                </a:solidFill>
                <a:latin typeface="Calibri" pitchFamily="34" charset="0"/>
                <a:ea typeface="Calibri" pitchFamily="34" charset="-122"/>
                <a:cs typeface="Calibri" pitchFamily="34" charset="-120"/>
              </a:rPr>
              <a:t>  navigate('/login');</a:t>
            </a:r>
          </a:p>
          <a:p>
            <a:pPr>
              <a:lnSpc>
                <a:spcPct val="120000"/>
              </a:lnSpc>
            </a:pPr>
            <a:r>
              <a:rPr lang="en-US" sz="1400" dirty="0">
                <a:solidFill>
                  <a:srgbClr val="6B7280"/>
                </a:solidFill>
                <a:latin typeface="Calibri" pitchFamily="34" charset="0"/>
                <a:ea typeface="Calibri" pitchFamily="34" charset="-122"/>
                <a:cs typeface="Calibri" pitchFamily="34" charset="-120"/>
              </a:rPr>
              <a:t>};</a:t>
            </a:r>
          </a:p>
          <a:p>
            <a:pPr>
              <a:lnSpc>
                <a:spcPct val="120000"/>
              </a:lnSpc>
            </a:pPr>
            <a:endParaRPr lang="en-US" sz="1400" dirty="0">
              <a:solidFill>
                <a:srgbClr val="6B7280"/>
              </a:solidFill>
              <a:latin typeface="Calibri" pitchFamily="34" charset="0"/>
              <a:ea typeface="Calibri" pitchFamily="34" charset="-122"/>
              <a:cs typeface="Calibri" pitchFamily="34" charset="-120"/>
            </a:endParaRPr>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320040"/>
          </a:xfrm>
          <a:prstGeom prst="rect">
            <a:avLst/>
          </a:prstGeom>
          <a:noFill/>
          <a:ln/>
        </p:spPr>
        <p:txBody>
          <a:bodyPr wrap="square" rtlCol="0" anchor="ctr"/>
          <a:lstStyle/>
          <a:p>
            <a:pPr marL="0" indent="0">
              <a:buNone/>
            </a:pPr>
            <a:r>
              <a:rPr lang="en-US" sz="1300" b="1" kern="0" spc="200" dirty="0">
                <a:solidFill>
                  <a:srgbClr val="0E7C7B"/>
                </a:solidFill>
                <a:latin typeface="Calibri" pitchFamily="34" charset="0"/>
                <a:ea typeface="Calibri" pitchFamily="34" charset="-122"/>
                <a:cs typeface="Calibri" pitchFamily="34" charset="-120"/>
              </a:rPr>
              <a:t>COURSE OUTCOME 6</a:t>
            </a:r>
            <a:endParaRPr lang="en-US" sz="1300" dirty="0"/>
          </a:p>
        </p:txBody>
      </p:sp>
      <p:sp>
        <p:nvSpPr>
          <p:cNvPr id="3" name="Text 1"/>
          <p:cNvSpPr/>
          <p:nvPr/>
        </p:nvSpPr>
        <p:spPr>
          <a:xfrm>
            <a:off x="548640" y="685800"/>
            <a:ext cx="8961120" cy="731520"/>
          </a:xfrm>
          <a:prstGeom prst="rect">
            <a:avLst/>
          </a:prstGeom>
          <a:noFill/>
          <a:ln/>
        </p:spPr>
        <p:txBody>
          <a:bodyPr wrap="square" rtlCol="0" anchor="ctr"/>
          <a:lstStyle/>
          <a:p>
            <a:pPr marL="0" indent="0">
              <a:buNone/>
            </a:pPr>
            <a:r>
              <a:rPr lang="en-US" sz="3000" b="1" dirty="0">
                <a:solidFill>
                  <a:srgbClr val="23262B"/>
                </a:solidFill>
                <a:latin typeface="Cambria" pitchFamily="34" charset="0"/>
                <a:ea typeface="Cambria" pitchFamily="34" charset="-122"/>
                <a:cs typeface="Cambria" pitchFamily="34" charset="-120"/>
              </a:rPr>
              <a:t>Build Systems, Testing &amp; Deployment</a:t>
            </a:r>
            <a:endParaRPr lang="en-US" sz="3000" dirty="0"/>
          </a:p>
        </p:txBody>
      </p:sp>
      <p:sp>
        <p:nvSpPr>
          <p:cNvPr id="4" name="Shape 2"/>
          <p:cNvSpPr/>
          <p:nvPr/>
        </p:nvSpPr>
        <p:spPr>
          <a:xfrm>
            <a:off x="10360152" y="411480"/>
            <a:ext cx="1280160" cy="457200"/>
          </a:xfrm>
          <a:prstGeom prst="roundRect">
            <a:avLst>
              <a:gd name="adj" fmla="val 50000"/>
            </a:avLst>
          </a:prstGeom>
          <a:solidFill>
            <a:srgbClr val="E8F4F3"/>
          </a:solidFill>
          <a:ln/>
        </p:spPr>
      </p:sp>
      <p:sp>
        <p:nvSpPr>
          <p:cNvPr id="5" name="Text 3"/>
          <p:cNvSpPr/>
          <p:nvPr/>
        </p:nvSpPr>
        <p:spPr>
          <a:xfrm>
            <a:off x="10360152" y="411480"/>
            <a:ext cx="1280160" cy="457200"/>
          </a:xfrm>
          <a:prstGeom prst="rect">
            <a:avLst/>
          </a:prstGeom>
          <a:noFill/>
          <a:ln/>
        </p:spPr>
        <p:txBody>
          <a:bodyPr wrap="square" rtlCol="0" anchor="ctr"/>
          <a:lstStyle/>
          <a:p>
            <a:pPr marL="0" indent="0" algn="ctr">
              <a:buNone/>
            </a:pPr>
            <a:r>
              <a:rPr lang="en-US" sz="1500" b="1" dirty="0">
                <a:solidFill>
                  <a:srgbClr val="0E7C7B"/>
                </a:solidFill>
                <a:latin typeface="Calibri" pitchFamily="34" charset="0"/>
                <a:ea typeface="Calibri" pitchFamily="34" charset="-122"/>
                <a:cs typeface="Calibri" pitchFamily="34" charset="-120"/>
              </a:rPr>
              <a:t>CO6</a:t>
            </a:r>
            <a:endParaRPr lang="en-US" sz="1500" dirty="0"/>
          </a:p>
        </p:txBody>
      </p:sp>
      <p:sp>
        <p:nvSpPr>
          <p:cNvPr id="6" name="Text 4"/>
          <p:cNvSpPr/>
          <p:nvPr/>
        </p:nvSpPr>
        <p:spPr>
          <a:xfrm>
            <a:off x="548640" y="1508760"/>
            <a:ext cx="10881360" cy="594360"/>
          </a:xfrm>
          <a:prstGeom prst="rect">
            <a:avLst/>
          </a:prstGeom>
          <a:noFill/>
          <a:ln/>
        </p:spPr>
        <p:txBody>
          <a:bodyPr wrap="square" rtlCol="0" anchor="ctr"/>
          <a:lstStyle/>
          <a:p>
            <a:pPr marL="0" indent="0">
              <a:lnSpc>
                <a:spcPct val="125000"/>
              </a:lnSpc>
              <a:buNone/>
            </a:pPr>
            <a:r>
              <a:rPr lang="en-US" sz="1500" dirty="0">
                <a:solidFill>
                  <a:srgbClr val="23262B"/>
                </a:solidFill>
                <a:latin typeface="Calibri" pitchFamily="34" charset="0"/>
                <a:ea typeface="Calibri" pitchFamily="34" charset="-122"/>
                <a:cs typeface="Calibri" pitchFamily="34" charset="-120"/>
              </a:rPr>
              <a:t>CO6 is about the tooling around a React app - bundling, testing, and shipping it. PharmaStock uses Create React App's standard toolchain end-to-end.</a:t>
            </a:r>
            <a:endParaRPr lang="en-US" sz="1500" dirty="0"/>
          </a:p>
        </p:txBody>
      </p:sp>
      <p:sp>
        <p:nvSpPr>
          <p:cNvPr id="7" name="Text 5"/>
          <p:cNvSpPr/>
          <p:nvPr/>
        </p:nvSpPr>
        <p:spPr>
          <a:xfrm>
            <a:off x="548640" y="2240280"/>
            <a:ext cx="5120640" cy="274320"/>
          </a:xfrm>
          <a:prstGeom prst="rect">
            <a:avLst/>
          </a:prstGeom>
          <a:noFill/>
          <a:ln/>
        </p:spPr>
        <p:txBody>
          <a:bodyPr wrap="square" rtlCol="0" anchor="ctr"/>
          <a:lstStyle/>
          <a:p>
            <a:pPr marL="0" indent="0">
              <a:buNone/>
            </a:pPr>
            <a:r>
              <a:rPr lang="en-US" sz="1200" b="1" kern="0" spc="150" dirty="0">
                <a:solidFill>
                  <a:srgbClr val="6B7280"/>
                </a:solidFill>
                <a:latin typeface="Calibri" pitchFamily="34" charset="0"/>
                <a:ea typeface="Calibri" pitchFamily="34" charset="-122"/>
                <a:cs typeface="Calibri" pitchFamily="34" charset="-120"/>
              </a:rPr>
              <a:t>CONCEPT WE LEARNED</a:t>
            </a:r>
            <a:endParaRPr lang="en-US" sz="1200" dirty="0"/>
          </a:p>
        </p:txBody>
      </p:sp>
      <p:sp>
        <p:nvSpPr>
          <p:cNvPr id="8" name="Text 6"/>
          <p:cNvSpPr/>
          <p:nvPr/>
        </p:nvSpPr>
        <p:spPr>
          <a:xfrm>
            <a:off x="6035040" y="2240280"/>
            <a:ext cx="5577840" cy="274320"/>
          </a:xfrm>
          <a:prstGeom prst="rect">
            <a:avLst/>
          </a:prstGeom>
          <a:noFill/>
          <a:ln/>
        </p:spPr>
        <p:txBody>
          <a:bodyPr wrap="square" rtlCol="0" anchor="ctr"/>
          <a:lstStyle/>
          <a:p>
            <a:pPr marL="0" indent="0">
              <a:buNone/>
            </a:pPr>
            <a:r>
              <a:rPr lang="en-US" sz="1200" b="1" kern="0" spc="150" dirty="0">
                <a:solidFill>
                  <a:srgbClr val="0E7C7B"/>
                </a:solidFill>
                <a:latin typeface="Calibri" pitchFamily="34" charset="0"/>
                <a:ea typeface="Calibri" pitchFamily="34" charset="-122"/>
                <a:cs typeface="Calibri" pitchFamily="34" charset="-120"/>
              </a:rPr>
              <a:t>HOW WE USED IT IN PHARMASTOCK</a:t>
            </a:r>
            <a:endParaRPr lang="en-US" sz="1200" dirty="0"/>
          </a:p>
        </p:txBody>
      </p:sp>
      <p:sp>
        <p:nvSpPr>
          <p:cNvPr id="9" name="Shape 7"/>
          <p:cNvSpPr/>
          <p:nvPr/>
        </p:nvSpPr>
        <p:spPr>
          <a:xfrm>
            <a:off x="6035040" y="2606040"/>
            <a:ext cx="5577840" cy="3931920"/>
          </a:xfrm>
          <a:prstGeom prst="roundRect">
            <a:avLst>
              <a:gd name="adj" fmla="val 2326"/>
            </a:avLst>
          </a:prstGeom>
          <a:solidFill>
            <a:srgbClr val="F7F9FA"/>
          </a:solidFill>
          <a:ln/>
        </p:spPr>
      </p:sp>
      <p:sp>
        <p:nvSpPr>
          <p:cNvPr id="10" name="Shape 8"/>
          <p:cNvSpPr/>
          <p:nvPr/>
        </p:nvSpPr>
        <p:spPr>
          <a:xfrm>
            <a:off x="704088" y="2697480"/>
            <a:ext cx="146304" cy="146304"/>
          </a:xfrm>
          <a:prstGeom prst="ellipse">
            <a:avLst/>
          </a:prstGeom>
          <a:solidFill>
            <a:srgbClr val="0E7C7B"/>
          </a:solidFill>
          <a:ln/>
        </p:spPr>
      </p:sp>
      <p:sp>
        <p:nvSpPr>
          <p:cNvPr id="11" name="Text 9"/>
          <p:cNvSpPr/>
          <p:nvPr/>
        </p:nvSpPr>
        <p:spPr>
          <a:xfrm>
            <a:off x="1051560" y="2578608"/>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Why bundlers exist (Webpack under CRA)</a:t>
            </a:r>
            <a:endParaRPr lang="en-US" sz="1400" dirty="0"/>
          </a:p>
        </p:txBody>
      </p:sp>
      <p:sp>
        <p:nvSpPr>
          <p:cNvPr id="12" name="Shape 10"/>
          <p:cNvSpPr/>
          <p:nvPr/>
        </p:nvSpPr>
        <p:spPr>
          <a:xfrm>
            <a:off x="704088" y="3264408"/>
            <a:ext cx="146304" cy="146304"/>
          </a:xfrm>
          <a:prstGeom prst="ellipse">
            <a:avLst/>
          </a:prstGeom>
          <a:solidFill>
            <a:srgbClr val="0E7C7B"/>
          </a:solidFill>
          <a:ln/>
        </p:spPr>
      </p:sp>
      <p:sp>
        <p:nvSpPr>
          <p:cNvPr id="13" name="Text 11"/>
          <p:cNvSpPr/>
          <p:nvPr/>
        </p:nvSpPr>
        <p:spPr>
          <a:xfrm>
            <a:off x="1051560" y="3145536"/>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Testing with Jest &amp; React Testing Library</a:t>
            </a:r>
            <a:endParaRPr lang="en-US" sz="1400" dirty="0"/>
          </a:p>
        </p:txBody>
      </p:sp>
      <p:sp>
        <p:nvSpPr>
          <p:cNvPr id="14" name="Shape 12"/>
          <p:cNvSpPr/>
          <p:nvPr/>
        </p:nvSpPr>
        <p:spPr>
          <a:xfrm>
            <a:off x="704088" y="3831336"/>
            <a:ext cx="146304" cy="146304"/>
          </a:xfrm>
          <a:prstGeom prst="ellipse">
            <a:avLst/>
          </a:prstGeom>
          <a:solidFill>
            <a:srgbClr val="0E7C7B"/>
          </a:solidFill>
          <a:ln/>
        </p:spPr>
      </p:sp>
      <p:sp>
        <p:nvSpPr>
          <p:cNvPr id="15" name="Text 13"/>
          <p:cNvSpPr/>
          <p:nvPr/>
        </p:nvSpPr>
        <p:spPr>
          <a:xfrm>
            <a:off x="1051560" y="3712464"/>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Environment configs &amp; build scripts</a:t>
            </a:r>
            <a:endParaRPr lang="en-US" sz="1400" dirty="0"/>
          </a:p>
        </p:txBody>
      </p:sp>
      <p:sp>
        <p:nvSpPr>
          <p:cNvPr id="16" name="Shape 14"/>
          <p:cNvSpPr/>
          <p:nvPr/>
        </p:nvSpPr>
        <p:spPr>
          <a:xfrm>
            <a:off x="704088" y="4398264"/>
            <a:ext cx="146304" cy="146304"/>
          </a:xfrm>
          <a:prstGeom prst="ellipse">
            <a:avLst/>
          </a:prstGeom>
          <a:solidFill>
            <a:srgbClr val="0E7C7B"/>
          </a:solidFill>
          <a:ln/>
        </p:spPr>
      </p:sp>
      <p:sp>
        <p:nvSpPr>
          <p:cNvPr id="17" name="Text 15"/>
          <p:cNvSpPr/>
          <p:nvPr/>
        </p:nvSpPr>
        <p:spPr>
          <a:xfrm>
            <a:off x="1051560" y="4279392"/>
            <a:ext cx="4754880" cy="502920"/>
          </a:xfrm>
          <a:prstGeom prst="rect">
            <a:avLst/>
          </a:prstGeom>
          <a:noFill/>
          <a:ln/>
        </p:spPr>
        <p:txBody>
          <a:bodyPr wrap="square" rtlCol="0" anchor="ctr"/>
          <a:lstStyle/>
          <a:p>
            <a:pPr marL="0" indent="0">
              <a:lnSpc>
                <a:spcPct val="115000"/>
              </a:lnSpc>
              <a:buNone/>
            </a:pPr>
            <a:r>
              <a:rPr lang="en-US" sz="1400" dirty="0">
                <a:solidFill>
                  <a:srgbClr val="23262B"/>
                </a:solidFill>
                <a:latin typeface="Calibri" pitchFamily="34" charset="0"/>
                <a:ea typeface="Calibri" pitchFamily="34" charset="-122"/>
                <a:cs typeface="Calibri" pitchFamily="34" charset="-120"/>
              </a:rPr>
              <a:t>Cloud deployment basics (Netlify/Vercel)</a:t>
            </a:r>
            <a:endParaRPr lang="en-US" sz="1400" dirty="0"/>
          </a:p>
        </p:txBody>
      </p:sp>
      <p:sp>
        <p:nvSpPr>
          <p:cNvPr id="19" name="Text 17"/>
          <p:cNvSpPr/>
          <p:nvPr/>
        </p:nvSpPr>
        <p:spPr>
          <a:xfrm>
            <a:off x="6263640" y="4201668"/>
            <a:ext cx="5120640" cy="740664"/>
          </a:xfrm>
          <a:prstGeom prst="rect">
            <a:avLst/>
          </a:prstGeom>
          <a:noFill/>
          <a:ln/>
        </p:spPr>
        <p:txBody>
          <a:bodyPr wrap="square" rtlCol="0" anchor="ctr"/>
          <a:lstStyle/>
          <a:p>
            <a:pPr>
              <a:lnSpc>
                <a:spcPct val="120000"/>
              </a:lnSpc>
            </a:pPr>
            <a:r>
              <a:rPr lang="en-US" sz="1400" dirty="0" err="1">
                <a:solidFill>
                  <a:srgbClr val="6B7280"/>
                </a:solidFill>
                <a:latin typeface="Calibri" pitchFamily="34" charset="0"/>
                <a:ea typeface="Calibri" pitchFamily="34" charset="-122"/>
                <a:cs typeface="Calibri" pitchFamily="34" charset="-120"/>
              </a:rPr>
              <a:t>npx</a:t>
            </a:r>
            <a:r>
              <a:rPr lang="en-US" sz="1400" dirty="0">
                <a:solidFill>
                  <a:srgbClr val="6B7280"/>
                </a:solidFill>
                <a:latin typeface="Calibri" pitchFamily="34" charset="0"/>
                <a:ea typeface="Calibri" pitchFamily="34" charset="-122"/>
                <a:cs typeface="Calibri" pitchFamily="34" charset="-120"/>
              </a:rPr>
              <a:t> create-react-app .</a:t>
            </a:r>
          </a:p>
          <a:p>
            <a:pPr>
              <a:lnSpc>
                <a:spcPct val="120000"/>
              </a:lnSpc>
            </a:pPr>
            <a:r>
              <a:rPr lang="en-US" sz="1400" dirty="0" err="1">
                <a:solidFill>
                  <a:srgbClr val="6B7280"/>
                </a:solidFill>
                <a:latin typeface="Calibri" pitchFamily="34" charset="0"/>
                <a:ea typeface="Calibri" pitchFamily="34" charset="-122"/>
                <a:cs typeface="Calibri" pitchFamily="34" charset="-120"/>
              </a:rPr>
              <a:t>npm</a:t>
            </a:r>
            <a:r>
              <a:rPr lang="en-US" sz="1400" dirty="0">
                <a:solidFill>
                  <a:srgbClr val="6B7280"/>
                </a:solidFill>
                <a:latin typeface="Calibri" pitchFamily="34" charset="0"/>
                <a:ea typeface="Calibri" pitchFamily="34" charset="-122"/>
                <a:cs typeface="Calibri" pitchFamily="34" charset="-120"/>
              </a:rPr>
              <a:t> install react-router-</a:t>
            </a:r>
            <a:r>
              <a:rPr lang="en-US" sz="1400" dirty="0" err="1">
                <a:solidFill>
                  <a:srgbClr val="6B7280"/>
                </a:solidFill>
                <a:latin typeface="Calibri" pitchFamily="34" charset="0"/>
                <a:ea typeface="Calibri" pitchFamily="34" charset="-122"/>
                <a:cs typeface="Calibri" pitchFamily="34" charset="-120"/>
              </a:rPr>
              <a:t>dom</a:t>
            </a:r>
            <a:endParaRPr lang="en-US" sz="1400" dirty="0">
              <a:solidFill>
                <a:srgbClr val="6B7280"/>
              </a:solidFill>
              <a:latin typeface="Calibri" pitchFamily="34" charset="0"/>
              <a:ea typeface="Calibri" pitchFamily="34" charset="-122"/>
              <a:cs typeface="Calibri" pitchFamily="34" charset="-120"/>
            </a:endParaRPr>
          </a:p>
          <a:p>
            <a:pPr>
              <a:lnSpc>
                <a:spcPct val="120000"/>
              </a:lnSpc>
            </a:pPr>
            <a:r>
              <a:rPr lang="en-US" sz="1400" dirty="0" err="1">
                <a:solidFill>
                  <a:srgbClr val="6B7280"/>
                </a:solidFill>
                <a:latin typeface="Calibri" pitchFamily="34" charset="0"/>
                <a:ea typeface="Calibri" pitchFamily="34" charset="-122"/>
                <a:cs typeface="Calibri" pitchFamily="34" charset="-120"/>
              </a:rPr>
              <a:t>npm</a:t>
            </a:r>
            <a:r>
              <a:rPr lang="en-US" sz="1400" dirty="0">
                <a:solidFill>
                  <a:srgbClr val="6B7280"/>
                </a:solidFill>
                <a:latin typeface="Calibri" pitchFamily="34" charset="0"/>
                <a:ea typeface="Calibri" pitchFamily="34" charset="-122"/>
                <a:cs typeface="Calibri" pitchFamily="34" charset="-120"/>
              </a:rPr>
              <a:t> install recharts</a:t>
            </a:r>
          </a:p>
          <a:p>
            <a:pPr>
              <a:lnSpc>
                <a:spcPct val="120000"/>
              </a:lnSpc>
            </a:pPr>
            <a:r>
              <a:rPr lang="en-US" sz="1400" dirty="0" err="1">
                <a:solidFill>
                  <a:srgbClr val="6B7280"/>
                </a:solidFill>
                <a:latin typeface="Calibri" pitchFamily="34" charset="0"/>
                <a:ea typeface="Calibri" pitchFamily="34" charset="-122"/>
                <a:cs typeface="Calibri" pitchFamily="34" charset="-120"/>
              </a:rPr>
              <a:t>npm</a:t>
            </a:r>
            <a:r>
              <a:rPr lang="en-US" sz="1400" dirty="0">
                <a:solidFill>
                  <a:srgbClr val="6B7280"/>
                </a:solidFill>
                <a:latin typeface="Calibri" pitchFamily="34" charset="0"/>
                <a:ea typeface="Calibri" pitchFamily="34" charset="-122"/>
                <a:cs typeface="Calibri" pitchFamily="34" charset="-120"/>
              </a:rPr>
              <a:t> start  </a:t>
            </a:r>
          </a:p>
          <a:p>
            <a:pPr>
              <a:lnSpc>
                <a:spcPct val="120000"/>
              </a:lnSpc>
            </a:pPr>
            <a:endParaRPr lang="en-US" sz="1400" dirty="0">
              <a:solidFill>
                <a:srgbClr val="6B7280"/>
              </a:solidFill>
              <a:latin typeface="Calibri" pitchFamily="34" charset="0"/>
              <a:ea typeface="Calibri" pitchFamily="34" charset="-122"/>
              <a:cs typeface="Calibri" pitchFamily="34" charset="-120"/>
            </a:endParaRPr>
          </a:p>
          <a:p>
            <a:pPr>
              <a:lnSpc>
                <a:spcPct val="120000"/>
              </a:lnSpc>
            </a:pPr>
            <a:endParaRPr lang="en-US" sz="1400" dirty="0">
              <a:solidFill>
                <a:srgbClr val="6B7280"/>
              </a:solidFill>
              <a:latin typeface="Calibri" pitchFamily="34" charset="0"/>
              <a:ea typeface="Calibri" pitchFamily="34" charset="-122"/>
              <a:cs typeface="Calibri" pitchFamily="34" charset="-120"/>
            </a:endParaRPr>
          </a:p>
          <a:p>
            <a:pPr>
              <a:lnSpc>
                <a:spcPct val="120000"/>
              </a:lnSpc>
            </a:pPr>
            <a:endParaRPr lang="en-US" sz="1400" dirty="0">
              <a:solidFill>
                <a:srgbClr val="6B7280"/>
              </a:solidFill>
              <a:latin typeface="Calibri" pitchFamily="34" charset="0"/>
              <a:ea typeface="Calibri" pitchFamily="34" charset="-122"/>
              <a:cs typeface="Calibri" pitchFamily="34" charset="-120"/>
            </a:endParaRPr>
          </a:p>
          <a:p>
            <a:pPr>
              <a:lnSpc>
                <a:spcPct val="120000"/>
              </a:lnSpc>
            </a:pPr>
            <a:r>
              <a:rPr lang="en-US" sz="1400" dirty="0">
                <a:solidFill>
                  <a:srgbClr val="6B7280"/>
                </a:solidFill>
                <a:latin typeface="Calibri" pitchFamily="34" charset="0"/>
                <a:ea typeface="Calibri" pitchFamily="34" charset="-122"/>
                <a:cs typeface="Calibri" pitchFamily="34" charset="-120"/>
              </a:rPr>
              <a:t>import {</a:t>
            </a:r>
          </a:p>
          <a:p>
            <a:pPr>
              <a:lnSpc>
                <a:spcPct val="120000"/>
              </a:lnSpc>
            </a:pPr>
            <a:r>
              <a:rPr lang="en-US" sz="1400" dirty="0">
                <a:solidFill>
                  <a:srgbClr val="6B7280"/>
                </a:solidFill>
                <a:latin typeface="Calibri" pitchFamily="34" charset="0"/>
                <a:ea typeface="Calibri" pitchFamily="34" charset="-122"/>
                <a:cs typeface="Calibri" pitchFamily="34" charset="-120"/>
              </a:rPr>
              <a:t>  </a:t>
            </a:r>
            <a:r>
              <a:rPr lang="en-US" sz="1400" dirty="0" err="1">
                <a:solidFill>
                  <a:srgbClr val="6B7280"/>
                </a:solidFill>
                <a:latin typeface="Calibri" pitchFamily="34" charset="0"/>
                <a:ea typeface="Calibri" pitchFamily="34" charset="-122"/>
                <a:cs typeface="Calibri" pitchFamily="34" charset="-120"/>
              </a:rPr>
              <a:t>BarChart</a:t>
            </a:r>
            <a:r>
              <a:rPr lang="en-US" sz="1400" dirty="0">
                <a:solidFill>
                  <a:srgbClr val="6B7280"/>
                </a:solidFill>
                <a:latin typeface="Calibri" pitchFamily="34" charset="0"/>
                <a:ea typeface="Calibri" pitchFamily="34" charset="-122"/>
                <a:cs typeface="Calibri" pitchFamily="34" charset="-120"/>
              </a:rPr>
              <a:t>,</a:t>
            </a:r>
          </a:p>
          <a:p>
            <a:pPr>
              <a:lnSpc>
                <a:spcPct val="120000"/>
              </a:lnSpc>
            </a:pPr>
            <a:r>
              <a:rPr lang="en-US" sz="1400" dirty="0">
                <a:solidFill>
                  <a:srgbClr val="6B7280"/>
                </a:solidFill>
                <a:latin typeface="Calibri" pitchFamily="34" charset="0"/>
                <a:ea typeface="Calibri" pitchFamily="34" charset="-122"/>
                <a:cs typeface="Calibri" pitchFamily="34" charset="-120"/>
              </a:rPr>
              <a:t>  Bar,</a:t>
            </a:r>
          </a:p>
          <a:p>
            <a:pPr>
              <a:lnSpc>
                <a:spcPct val="120000"/>
              </a:lnSpc>
            </a:pPr>
            <a:r>
              <a:rPr lang="en-US" sz="1400" dirty="0">
                <a:solidFill>
                  <a:srgbClr val="6B7280"/>
                </a:solidFill>
                <a:latin typeface="Calibri" pitchFamily="34" charset="0"/>
                <a:ea typeface="Calibri" pitchFamily="34" charset="-122"/>
                <a:cs typeface="Calibri" pitchFamily="34" charset="-120"/>
              </a:rPr>
              <a:t>  </a:t>
            </a:r>
            <a:r>
              <a:rPr lang="en-US" sz="1400" dirty="0" err="1">
                <a:solidFill>
                  <a:srgbClr val="6B7280"/>
                </a:solidFill>
                <a:latin typeface="Calibri" pitchFamily="34" charset="0"/>
                <a:ea typeface="Calibri" pitchFamily="34" charset="-122"/>
                <a:cs typeface="Calibri" pitchFamily="34" charset="-120"/>
              </a:rPr>
              <a:t>XAxis</a:t>
            </a:r>
            <a:r>
              <a:rPr lang="en-US" sz="1400" dirty="0">
                <a:solidFill>
                  <a:srgbClr val="6B7280"/>
                </a:solidFill>
                <a:latin typeface="Calibri" pitchFamily="34" charset="0"/>
                <a:ea typeface="Calibri" pitchFamily="34" charset="-122"/>
                <a:cs typeface="Calibri" pitchFamily="34" charset="-120"/>
              </a:rPr>
              <a:t>,</a:t>
            </a:r>
          </a:p>
          <a:p>
            <a:pPr>
              <a:lnSpc>
                <a:spcPct val="120000"/>
              </a:lnSpc>
            </a:pPr>
            <a:r>
              <a:rPr lang="en-US" sz="1400" dirty="0">
                <a:solidFill>
                  <a:srgbClr val="6B7280"/>
                </a:solidFill>
                <a:latin typeface="Calibri" pitchFamily="34" charset="0"/>
                <a:ea typeface="Calibri" pitchFamily="34" charset="-122"/>
                <a:cs typeface="Calibri" pitchFamily="34" charset="-120"/>
              </a:rPr>
              <a:t>  </a:t>
            </a:r>
            <a:r>
              <a:rPr lang="en-US" sz="1400" dirty="0" err="1">
                <a:solidFill>
                  <a:srgbClr val="6B7280"/>
                </a:solidFill>
                <a:latin typeface="Calibri" pitchFamily="34" charset="0"/>
                <a:ea typeface="Calibri" pitchFamily="34" charset="-122"/>
                <a:cs typeface="Calibri" pitchFamily="34" charset="-120"/>
              </a:rPr>
              <a:t>YAxis</a:t>
            </a:r>
            <a:r>
              <a:rPr lang="en-US" sz="1400" dirty="0">
                <a:solidFill>
                  <a:srgbClr val="6B7280"/>
                </a:solidFill>
                <a:latin typeface="Calibri" pitchFamily="34" charset="0"/>
                <a:ea typeface="Calibri" pitchFamily="34" charset="-122"/>
                <a:cs typeface="Calibri" pitchFamily="34" charset="-120"/>
              </a:rPr>
              <a:t>,</a:t>
            </a:r>
          </a:p>
          <a:p>
            <a:pPr>
              <a:lnSpc>
                <a:spcPct val="120000"/>
              </a:lnSpc>
            </a:pPr>
            <a:r>
              <a:rPr lang="en-US" sz="1400" dirty="0">
                <a:solidFill>
                  <a:srgbClr val="6B7280"/>
                </a:solidFill>
                <a:latin typeface="Calibri" pitchFamily="34" charset="0"/>
                <a:ea typeface="Calibri" pitchFamily="34" charset="-122"/>
                <a:cs typeface="Calibri" pitchFamily="34" charset="-120"/>
              </a:rPr>
              <a:t>  </a:t>
            </a:r>
            <a:r>
              <a:rPr lang="en-US" sz="1400" dirty="0" err="1">
                <a:solidFill>
                  <a:srgbClr val="6B7280"/>
                </a:solidFill>
                <a:latin typeface="Calibri" pitchFamily="34" charset="0"/>
                <a:ea typeface="Calibri" pitchFamily="34" charset="-122"/>
                <a:cs typeface="Calibri" pitchFamily="34" charset="-120"/>
              </a:rPr>
              <a:t>PieChart</a:t>
            </a:r>
            <a:r>
              <a:rPr lang="en-US" sz="1400" dirty="0">
                <a:solidFill>
                  <a:srgbClr val="6B7280"/>
                </a:solidFill>
                <a:latin typeface="Calibri" pitchFamily="34" charset="0"/>
                <a:ea typeface="Calibri" pitchFamily="34" charset="-122"/>
                <a:cs typeface="Calibri" pitchFamily="34" charset="-120"/>
              </a:rPr>
              <a:t>,</a:t>
            </a:r>
          </a:p>
          <a:p>
            <a:pPr>
              <a:lnSpc>
                <a:spcPct val="120000"/>
              </a:lnSpc>
            </a:pPr>
            <a:r>
              <a:rPr lang="en-US" sz="1400" dirty="0">
                <a:solidFill>
                  <a:srgbClr val="6B7280"/>
                </a:solidFill>
                <a:latin typeface="Calibri" pitchFamily="34" charset="0"/>
                <a:ea typeface="Calibri" pitchFamily="34" charset="-122"/>
                <a:cs typeface="Calibri" pitchFamily="34" charset="-120"/>
              </a:rPr>
              <a:t>  Pie</a:t>
            </a:r>
          </a:p>
          <a:p>
            <a:pPr>
              <a:lnSpc>
                <a:spcPct val="120000"/>
              </a:lnSpc>
            </a:pPr>
            <a:r>
              <a:rPr lang="en-US" sz="1400" dirty="0">
                <a:solidFill>
                  <a:srgbClr val="6B7280"/>
                </a:solidFill>
                <a:latin typeface="Calibri" pitchFamily="34" charset="0"/>
                <a:ea typeface="Calibri" pitchFamily="34" charset="-122"/>
                <a:cs typeface="Calibri" pitchFamily="34" charset="-120"/>
              </a:rPr>
              <a:t>} from 'recharts';</a:t>
            </a:r>
          </a:p>
        </p:txBody>
      </p:sp>
      <p:sp>
        <p:nvSpPr>
          <p:cNvPr id="24" name="Text 22"/>
          <p:cNvSpPr/>
          <p:nvPr/>
        </p:nvSpPr>
        <p:spPr>
          <a:xfrm>
            <a:off x="457200" y="6355080"/>
            <a:ext cx="2743200" cy="27432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PharmaStock</a:t>
            </a:r>
            <a:endParaRPr lang="en-US" sz="1100" dirty="0"/>
          </a:p>
        </p:txBody>
      </p:sp>
      <p:sp>
        <p:nvSpPr>
          <p:cNvPr id="25" name="Text 23"/>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6B728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0B132B"/>
        </a:solidFill>
        <a:effectLst/>
      </p:bgPr>
    </p:bg>
    <p:spTree>
      <p:nvGrpSpPr>
        <p:cNvPr id="1" name=""/>
        <p:cNvGrpSpPr/>
        <p:nvPr/>
      </p:nvGrpSpPr>
      <p:grpSpPr>
        <a:xfrm>
          <a:off x="0" y="0"/>
          <a:ext cx="0" cy="0"/>
          <a:chOff x="0" y="0"/>
          <a:chExt cx="0" cy="0"/>
        </a:xfrm>
      </p:grpSpPr>
      <p:sp>
        <p:nvSpPr>
          <p:cNvPr id="4" name="Text 2"/>
          <p:cNvSpPr/>
          <p:nvPr/>
        </p:nvSpPr>
        <p:spPr>
          <a:xfrm>
            <a:off x="640080" y="548640"/>
            <a:ext cx="7315200" cy="320040"/>
          </a:xfrm>
          <a:prstGeom prst="rect">
            <a:avLst/>
          </a:prstGeom>
          <a:noFill/>
          <a:ln/>
        </p:spPr>
        <p:txBody>
          <a:bodyPr wrap="square" rtlCol="0" anchor="ctr"/>
          <a:lstStyle/>
          <a:p>
            <a:pPr marL="0" indent="0">
              <a:buNone/>
            </a:pPr>
            <a:r>
              <a:rPr lang="en-US" sz="1300" b="1" kern="0" spc="200" dirty="0">
                <a:solidFill>
                  <a:srgbClr val="5FD0CE"/>
                </a:solidFill>
                <a:latin typeface="Calibri" pitchFamily="34" charset="0"/>
                <a:ea typeface="Calibri" pitchFamily="34" charset="-122"/>
                <a:cs typeface="Calibri" pitchFamily="34" charset="-120"/>
              </a:rPr>
              <a:t>CONCLUSION &amp; FUTURE SCOPE</a:t>
            </a:r>
            <a:endParaRPr lang="en-US" sz="1300" dirty="0"/>
          </a:p>
        </p:txBody>
      </p:sp>
      <p:sp>
        <p:nvSpPr>
          <p:cNvPr id="5" name="Text 3"/>
          <p:cNvSpPr/>
          <p:nvPr/>
        </p:nvSpPr>
        <p:spPr>
          <a:xfrm>
            <a:off x="594360" y="868680"/>
            <a:ext cx="8229600" cy="77724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Wrapping Up</a:t>
            </a:r>
            <a:endParaRPr lang="en-US" sz="3400" dirty="0"/>
          </a:p>
        </p:txBody>
      </p:sp>
      <p:sp>
        <p:nvSpPr>
          <p:cNvPr id="6" name="Shape 4"/>
          <p:cNvSpPr/>
          <p:nvPr/>
        </p:nvSpPr>
        <p:spPr>
          <a:xfrm>
            <a:off x="640080" y="1874520"/>
            <a:ext cx="5303520" cy="4160520"/>
          </a:xfrm>
          <a:prstGeom prst="roundRect">
            <a:avLst>
              <a:gd name="adj" fmla="val 2637"/>
            </a:avLst>
          </a:prstGeom>
          <a:solidFill>
            <a:srgbClr val="111E3D"/>
          </a:solidFill>
          <a:ln w="12700">
            <a:solidFill>
              <a:srgbClr val="26395F"/>
            </a:solidFill>
            <a:prstDash val="solid"/>
          </a:ln>
        </p:spPr>
      </p:sp>
      <p:sp>
        <p:nvSpPr>
          <p:cNvPr id="7" name="Text 5"/>
          <p:cNvSpPr/>
          <p:nvPr/>
        </p:nvSpPr>
        <p:spPr>
          <a:xfrm>
            <a:off x="914400" y="2103120"/>
            <a:ext cx="3657600" cy="274320"/>
          </a:xfrm>
          <a:prstGeom prst="rect">
            <a:avLst/>
          </a:prstGeom>
          <a:noFill/>
          <a:ln/>
        </p:spPr>
        <p:txBody>
          <a:bodyPr wrap="square" rtlCol="0" anchor="ctr"/>
          <a:lstStyle/>
          <a:p>
            <a:pPr marL="0" indent="0">
              <a:buNone/>
            </a:pPr>
            <a:r>
              <a:rPr lang="en-US" sz="1200" b="1" kern="0" spc="200" dirty="0">
                <a:solidFill>
                  <a:srgbClr val="5FD0CE"/>
                </a:solidFill>
                <a:latin typeface="Calibri" pitchFamily="34" charset="0"/>
                <a:ea typeface="Calibri" pitchFamily="34" charset="-122"/>
                <a:cs typeface="Calibri" pitchFamily="34" charset="-120"/>
              </a:rPr>
              <a:t>CONCLUSION</a:t>
            </a:r>
            <a:endParaRPr lang="en-US" sz="1200" dirty="0"/>
          </a:p>
        </p:txBody>
      </p:sp>
      <p:sp>
        <p:nvSpPr>
          <p:cNvPr id="8" name="Text 6"/>
          <p:cNvSpPr/>
          <p:nvPr/>
        </p:nvSpPr>
        <p:spPr>
          <a:xfrm>
            <a:off x="914400" y="2468880"/>
            <a:ext cx="4754880" cy="1737360"/>
          </a:xfrm>
          <a:prstGeom prst="rect">
            <a:avLst/>
          </a:prstGeom>
          <a:noFill/>
          <a:ln/>
        </p:spPr>
        <p:txBody>
          <a:bodyPr wrap="square" rtlCol="0" anchor="ctr"/>
          <a:lstStyle/>
          <a:p>
            <a:pPr marL="0" indent="0">
              <a:lnSpc>
                <a:spcPct val="130000"/>
              </a:lnSpc>
              <a:buNone/>
            </a:pPr>
            <a:r>
              <a:rPr lang="en-US" sz="1400" dirty="0">
                <a:solidFill>
                  <a:srgbClr val="D7E0EC"/>
                </a:solidFill>
                <a:latin typeface="Calibri" pitchFamily="34" charset="0"/>
                <a:ea typeface="Calibri" pitchFamily="34" charset="-122"/>
                <a:cs typeface="Calibri" pitchFamily="34" charset="-120"/>
              </a:rPr>
              <a:t>PharmaStock brought together routing, component design, forms, and data visualization into one working pharmacy inventory app. Building it module by module helped us actually feel how each CO concept shows up in a real codebase, not just in theory.</a:t>
            </a:r>
            <a:endParaRPr lang="en-US" sz="1400" dirty="0"/>
          </a:p>
        </p:txBody>
      </p:sp>
      <p:sp>
        <p:nvSpPr>
          <p:cNvPr id="9" name="Text 7"/>
          <p:cNvSpPr/>
          <p:nvPr/>
        </p:nvSpPr>
        <p:spPr>
          <a:xfrm>
            <a:off x="914400" y="4343400"/>
            <a:ext cx="4754880" cy="1371600"/>
          </a:xfrm>
          <a:prstGeom prst="rect">
            <a:avLst/>
          </a:prstGeom>
          <a:noFill/>
          <a:ln/>
        </p:spPr>
        <p:txBody>
          <a:bodyPr wrap="square" rtlCol="0" anchor="ctr"/>
          <a:lstStyle/>
          <a:p>
            <a:pPr marL="0" indent="0">
              <a:lnSpc>
                <a:spcPct val="130000"/>
              </a:lnSpc>
              <a:buNone/>
            </a:pPr>
            <a:r>
              <a:rPr lang="en-US" sz="1400" dirty="0">
                <a:solidFill>
                  <a:srgbClr val="D7E0EC"/>
                </a:solidFill>
                <a:latin typeface="Calibri" pitchFamily="34" charset="0"/>
                <a:ea typeface="Calibri" pitchFamily="34" charset="-122"/>
                <a:cs typeface="Calibri" pitchFamily="34" charset="-120"/>
              </a:rPr>
              <a:t>It also showed us where a simple CRA project starts needing more structure - global state, real APIs, and proper tests - as it grows.</a:t>
            </a:r>
            <a:endParaRPr lang="en-US" sz="1400" dirty="0"/>
          </a:p>
        </p:txBody>
      </p:sp>
      <p:sp>
        <p:nvSpPr>
          <p:cNvPr id="10" name="Shape 8"/>
          <p:cNvSpPr/>
          <p:nvPr/>
        </p:nvSpPr>
        <p:spPr>
          <a:xfrm>
            <a:off x="6263640" y="1874520"/>
            <a:ext cx="5303520" cy="4160520"/>
          </a:xfrm>
          <a:prstGeom prst="roundRect">
            <a:avLst>
              <a:gd name="adj" fmla="val 2637"/>
            </a:avLst>
          </a:prstGeom>
          <a:solidFill>
            <a:srgbClr val="111E3D"/>
          </a:solidFill>
          <a:ln w="12700">
            <a:solidFill>
              <a:srgbClr val="26395F"/>
            </a:solidFill>
            <a:prstDash val="solid"/>
          </a:ln>
        </p:spPr>
      </p:sp>
      <p:sp>
        <p:nvSpPr>
          <p:cNvPr id="11" name="Text 9"/>
          <p:cNvSpPr/>
          <p:nvPr/>
        </p:nvSpPr>
        <p:spPr>
          <a:xfrm>
            <a:off x="6537960" y="2103120"/>
            <a:ext cx="3657600" cy="274320"/>
          </a:xfrm>
          <a:prstGeom prst="rect">
            <a:avLst/>
          </a:prstGeom>
          <a:noFill/>
          <a:ln/>
        </p:spPr>
        <p:txBody>
          <a:bodyPr wrap="square" rtlCol="0" anchor="ctr"/>
          <a:lstStyle/>
          <a:p>
            <a:pPr marL="0" indent="0">
              <a:buNone/>
            </a:pPr>
            <a:r>
              <a:rPr lang="en-US" sz="1200" b="1" kern="0" spc="200" dirty="0">
                <a:solidFill>
                  <a:srgbClr val="5FD0CE"/>
                </a:solidFill>
                <a:latin typeface="Calibri" pitchFamily="34" charset="0"/>
                <a:ea typeface="Calibri" pitchFamily="34" charset="-122"/>
                <a:cs typeface="Calibri" pitchFamily="34" charset="-120"/>
              </a:rPr>
              <a:t>FUTURE SCOPE</a:t>
            </a:r>
            <a:endParaRPr lang="en-US" sz="1200" dirty="0"/>
          </a:p>
        </p:txBody>
      </p:sp>
      <p:sp>
        <p:nvSpPr>
          <p:cNvPr id="12" name="Shape 10"/>
          <p:cNvSpPr/>
          <p:nvPr/>
        </p:nvSpPr>
        <p:spPr>
          <a:xfrm>
            <a:off x="6702552" y="2569464"/>
            <a:ext cx="128016" cy="128016"/>
          </a:xfrm>
          <a:prstGeom prst="ellipse">
            <a:avLst/>
          </a:prstGeom>
          <a:solidFill>
            <a:srgbClr val="5FD0CE"/>
          </a:solidFill>
          <a:ln/>
        </p:spPr>
      </p:sp>
      <p:sp>
        <p:nvSpPr>
          <p:cNvPr id="13" name="Text 11"/>
          <p:cNvSpPr/>
          <p:nvPr/>
        </p:nvSpPr>
        <p:spPr>
          <a:xfrm>
            <a:off x="6995160" y="2441448"/>
            <a:ext cx="4434840" cy="594360"/>
          </a:xfrm>
          <a:prstGeom prst="rect">
            <a:avLst/>
          </a:prstGeom>
          <a:noFill/>
          <a:ln/>
        </p:spPr>
        <p:txBody>
          <a:bodyPr wrap="square" rtlCol="0" anchor="ctr"/>
          <a:lstStyle/>
          <a:p>
            <a:pPr marL="0" indent="0">
              <a:lnSpc>
                <a:spcPct val="120000"/>
              </a:lnSpc>
              <a:buNone/>
            </a:pPr>
            <a:r>
              <a:rPr lang="en-US" sz="1350" dirty="0">
                <a:solidFill>
                  <a:srgbClr val="D7E0EC"/>
                </a:solidFill>
                <a:latin typeface="Calibri" pitchFamily="34" charset="0"/>
                <a:ea typeface="Calibri" pitchFamily="34" charset="-122"/>
                <a:cs typeface="Calibri" pitchFamily="34" charset="-120"/>
              </a:rPr>
              <a:t>Connect a real backend (Node/Express + database) to replace local data</a:t>
            </a:r>
            <a:endParaRPr lang="en-US" sz="1350" dirty="0"/>
          </a:p>
        </p:txBody>
      </p:sp>
      <p:sp>
        <p:nvSpPr>
          <p:cNvPr id="14" name="Shape 12"/>
          <p:cNvSpPr/>
          <p:nvPr/>
        </p:nvSpPr>
        <p:spPr>
          <a:xfrm>
            <a:off x="6702552" y="3227832"/>
            <a:ext cx="128016" cy="128016"/>
          </a:xfrm>
          <a:prstGeom prst="ellipse">
            <a:avLst/>
          </a:prstGeom>
          <a:solidFill>
            <a:srgbClr val="5FD0CE"/>
          </a:solidFill>
          <a:ln/>
        </p:spPr>
      </p:sp>
      <p:sp>
        <p:nvSpPr>
          <p:cNvPr id="15" name="Text 13"/>
          <p:cNvSpPr/>
          <p:nvPr/>
        </p:nvSpPr>
        <p:spPr>
          <a:xfrm>
            <a:off x="6995160" y="3099816"/>
            <a:ext cx="4434840" cy="594360"/>
          </a:xfrm>
          <a:prstGeom prst="rect">
            <a:avLst/>
          </a:prstGeom>
          <a:noFill/>
          <a:ln/>
        </p:spPr>
        <p:txBody>
          <a:bodyPr wrap="square" rtlCol="0" anchor="ctr"/>
          <a:lstStyle/>
          <a:p>
            <a:pPr marL="0" indent="0">
              <a:lnSpc>
                <a:spcPct val="120000"/>
              </a:lnSpc>
              <a:buNone/>
            </a:pPr>
            <a:r>
              <a:rPr lang="en-US" sz="1350" dirty="0">
                <a:solidFill>
                  <a:srgbClr val="D7E0EC"/>
                </a:solidFill>
                <a:latin typeface="Calibri" pitchFamily="34" charset="0"/>
                <a:ea typeface="Calibri" pitchFamily="34" charset="-122"/>
                <a:cs typeface="Calibri" pitchFamily="34" charset="-120"/>
              </a:rPr>
              <a:t>Add role-based access for Admin vs Staff in AdminPanel</a:t>
            </a:r>
            <a:endParaRPr lang="en-US" sz="1350" dirty="0"/>
          </a:p>
        </p:txBody>
      </p:sp>
      <p:sp>
        <p:nvSpPr>
          <p:cNvPr id="16" name="Shape 14"/>
          <p:cNvSpPr/>
          <p:nvPr/>
        </p:nvSpPr>
        <p:spPr>
          <a:xfrm>
            <a:off x="6702552" y="3886200"/>
            <a:ext cx="128016" cy="128016"/>
          </a:xfrm>
          <a:prstGeom prst="ellipse">
            <a:avLst/>
          </a:prstGeom>
          <a:solidFill>
            <a:srgbClr val="5FD0CE"/>
          </a:solidFill>
          <a:ln/>
        </p:spPr>
      </p:sp>
      <p:sp>
        <p:nvSpPr>
          <p:cNvPr id="17" name="Text 15"/>
          <p:cNvSpPr/>
          <p:nvPr/>
        </p:nvSpPr>
        <p:spPr>
          <a:xfrm>
            <a:off x="6995160" y="3758184"/>
            <a:ext cx="4434840" cy="594360"/>
          </a:xfrm>
          <a:prstGeom prst="rect">
            <a:avLst/>
          </a:prstGeom>
          <a:noFill/>
          <a:ln/>
        </p:spPr>
        <p:txBody>
          <a:bodyPr wrap="square" rtlCol="0" anchor="ctr"/>
          <a:lstStyle/>
          <a:p>
            <a:pPr marL="0" indent="0">
              <a:lnSpc>
                <a:spcPct val="120000"/>
              </a:lnSpc>
              <a:buNone/>
            </a:pPr>
            <a:r>
              <a:rPr lang="en-US" sz="1350" dirty="0">
                <a:solidFill>
                  <a:srgbClr val="D7E0EC"/>
                </a:solidFill>
                <a:latin typeface="Calibri" pitchFamily="34" charset="0"/>
                <a:ea typeface="Calibri" pitchFamily="34" charset="-122"/>
                <a:cs typeface="Calibri" pitchFamily="34" charset="-120"/>
              </a:rPr>
              <a:t>Real barcode scanning support in BarcodeLookup</a:t>
            </a:r>
            <a:endParaRPr lang="en-US" sz="1350" dirty="0"/>
          </a:p>
        </p:txBody>
      </p:sp>
      <p:sp>
        <p:nvSpPr>
          <p:cNvPr id="18" name="Shape 16"/>
          <p:cNvSpPr/>
          <p:nvPr/>
        </p:nvSpPr>
        <p:spPr>
          <a:xfrm>
            <a:off x="6702552" y="4544568"/>
            <a:ext cx="128016" cy="128016"/>
          </a:xfrm>
          <a:prstGeom prst="ellipse">
            <a:avLst/>
          </a:prstGeom>
          <a:solidFill>
            <a:srgbClr val="5FD0CE"/>
          </a:solidFill>
          <a:ln/>
        </p:spPr>
      </p:sp>
      <p:sp>
        <p:nvSpPr>
          <p:cNvPr id="19" name="Text 17"/>
          <p:cNvSpPr/>
          <p:nvPr/>
        </p:nvSpPr>
        <p:spPr>
          <a:xfrm>
            <a:off x="6995160" y="4416552"/>
            <a:ext cx="4434840" cy="594360"/>
          </a:xfrm>
          <a:prstGeom prst="rect">
            <a:avLst/>
          </a:prstGeom>
          <a:noFill/>
          <a:ln/>
        </p:spPr>
        <p:txBody>
          <a:bodyPr wrap="square" rtlCol="0" anchor="ctr"/>
          <a:lstStyle/>
          <a:p>
            <a:pPr marL="0" indent="0">
              <a:lnSpc>
                <a:spcPct val="120000"/>
              </a:lnSpc>
              <a:buNone/>
            </a:pPr>
            <a:r>
              <a:rPr lang="en-US" sz="1350" dirty="0">
                <a:solidFill>
                  <a:srgbClr val="D7E0EC"/>
                </a:solidFill>
                <a:latin typeface="Calibri" pitchFamily="34" charset="0"/>
                <a:ea typeface="Calibri" pitchFamily="34" charset="-122"/>
                <a:cs typeface="Calibri" pitchFamily="34" charset="-120"/>
              </a:rPr>
              <a:t>Push/email alerts for expiry instead of an in-app list</a:t>
            </a:r>
            <a:endParaRPr lang="en-US" sz="1350" dirty="0"/>
          </a:p>
        </p:txBody>
      </p:sp>
      <p:sp>
        <p:nvSpPr>
          <p:cNvPr id="20" name="Shape 18"/>
          <p:cNvSpPr/>
          <p:nvPr/>
        </p:nvSpPr>
        <p:spPr>
          <a:xfrm>
            <a:off x="6702552" y="5202936"/>
            <a:ext cx="128016" cy="128016"/>
          </a:xfrm>
          <a:prstGeom prst="ellipse">
            <a:avLst/>
          </a:prstGeom>
          <a:solidFill>
            <a:srgbClr val="5FD0CE"/>
          </a:solidFill>
          <a:ln/>
        </p:spPr>
      </p:sp>
      <p:sp>
        <p:nvSpPr>
          <p:cNvPr id="21" name="Text 19"/>
          <p:cNvSpPr/>
          <p:nvPr/>
        </p:nvSpPr>
        <p:spPr>
          <a:xfrm>
            <a:off x="6995160" y="5074920"/>
            <a:ext cx="4434840" cy="594360"/>
          </a:xfrm>
          <a:prstGeom prst="rect">
            <a:avLst/>
          </a:prstGeom>
          <a:noFill/>
          <a:ln/>
        </p:spPr>
        <p:txBody>
          <a:bodyPr wrap="square" rtlCol="0" anchor="ctr"/>
          <a:lstStyle/>
          <a:p>
            <a:pPr marL="0" indent="0">
              <a:lnSpc>
                <a:spcPct val="120000"/>
              </a:lnSpc>
              <a:buNone/>
            </a:pPr>
            <a:r>
              <a:rPr lang="en-US" sz="1350" dirty="0">
                <a:solidFill>
                  <a:srgbClr val="D7E0EC"/>
                </a:solidFill>
                <a:latin typeface="Calibri" pitchFamily="34" charset="0"/>
                <a:ea typeface="Calibri" pitchFamily="34" charset="-122"/>
                <a:cs typeface="Calibri" pitchFamily="34" charset="-120"/>
              </a:rPr>
              <a:t>Unit + integration tests with Jest and RTL across pages</a:t>
            </a:r>
            <a:endParaRPr lang="en-US" sz="1350" dirty="0"/>
          </a:p>
        </p:txBody>
      </p:sp>
      <p:sp>
        <p:nvSpPr>
          <p:cNvPr id="22" name="Text 20"/>
          <p:cNvSpPr/>
          <p:nvPr/>
        </p:nvSpPr>
        <p:spPr>
          <a:xfrm>
            <a:off x="640080" y="6263640"/>
            <a:ext cx="5486400" cy="365760"/>
          </a:xfrm>
          <a:prstGeom prst="rect">
            <a:avLst/>
          </a:prstGeom>
          <a:noFill/>
          <a:ln/>
        </p:spPr>
        <p:txBody>
          <a:bodyPr wrap="square" rtlCol="0" anchor="ctr"/>
          <a:lstStyle/>
          <a:p>
            <a:pPr marL="0" indent="0">
              <a:buNone/>
            </a:pPr>
            <a:r>
              <a:rPr lang="en-US" sz="1600" i="1" dirty="0">
                <a:solidFill>
                  <a:srgbClr val="8FA2C0"/>
                </a:solidFill>
                <a:latin typeface="Cambria" pitchFamily="34" charset="0"/>
                <a:ea typeface="Cambria" pitchFamily="34" charset="-122"/>
                <a:cs typeface="Cambria" pitchFamily="34" charset="-120"/>
              </a:rPr>
              <a:t>Thank you!</a:t>
            </a:r>
            <a:endParaRPr lang="en-US" sz="1600" dirty="0"/>
          </a:p>
        </p:txBody>
      </p:sp>
      <p:sp>
        <p:nvSpPr>
          <p:cNvPr id="23" name="Text 21"/>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2DD2E5ED-9D9F-A9B9-DBF0-8A35388D3C8E}"/>
            </a:ext>
          </a:extLst>
        </p:cNvPr>
        <p:cNvGrpSpPr/>
        <p:nvPr/>
      </p:nvGrpSpPr>
      <p:grpSpPr>
        <a:xfrm>
          <a:off x="0" y="0"/>
          <a:ext cx="0" cy="0"/>
          <a:chOff x="0" y="0"/>
          <a:chExt cx="0" cy="0"/>
        </a:xfrm>
      </p:grpSpPr>
      <p:sp>
        <p:nvSpPr>
          <p:cNvPr id="22" name="Text 20">
            <a:extLst>
              <a:ext uri="{FF2B5EF4-FFF2-40B4-BE49-F238E27FC236}">
                <a16:creationId xmlns:a16="http://schemas.microsoft.com/office/drawing/2014/main" id="{34B147D5-3C46-8F99-A996-7FECC61021A6}"/>
              </a:ext>
            </a:extLst>
          </p:cNvPr>
          <p:cNvSpPr/>
          <p:nvPr/>
        </p:nvSpPr>
        <p:spPr>
          <a:xfrm>
            <a:off x="3230880" y="3078480"/>
            <a:ext cx="5486400" cy="365760"/>
          </a:xfrm>
          <a:prstGeom prst="rect">
            <a:avLst/>
          </a:prstGeom>
          <a:noFill/>
          <a:ln/>
        </p:spPr>
        <p:txBody>
          <a:bodyPr wrap="square" rtlCol="0" anchor="ctr"/>
          <a:lstStyle/>
          <a:p>
            <a:pPr marL="0" indent="0">
              <a:buNone/>
            </a:pPr>
            <a:r>
              <a:rPr lang="en-US" sz="8800" i="1" dirty="0">
                <a:solidFill>
                  <a:srgbClr val="8FA2C0"/>
                </a:solidFill>
                <a:latin typeface="Cambria" pitchFamily="34" charset="0"/>
                <a:ea typeface="Cambria" pitchFamily="34" charset="-122"/>
                <a:cs typeface="Cambria" pitchFamily="34" charset="-120"/>
              </a:rPr>
              <a:t>Thank you!</a:t>
            </a:r>
            <a:endParaRPr lang="en-US" sz="8800" dirty="0"/>
          </a:p>
        </p:txBody>
      </p:sp>
      <p:sp>
        <p:nvSpPr>
          <p:cNvPr id="23" name="Text 21">
            <a:extLst>
              <a:ext uri="{FF2B5EF4-FFF2-40B4-BE49-F238E27FC236}">
                <a16:creationId xmlns:a16="http://schemas.microsoft.com/office/drawing/2014/main" id="{EB83C317-7CE7-65B8-1ECD-D049DE966C08}"/>
              </a:ext>
            </a:extLst>
          </p:cNvPr>
          <p:cNvSpPr/>
          <p:nvPr/>
        </p:nvSpPr>
        <p:spPr>
          <a:xfrm>
            <a:off x="11548872" y="6355080"/>
            <a:ext cx="365760" cy="274320"/>
          </a:xfrm>
          <a:prstGeom prst="rect">
            <a:avLst/>
          </a:prstGeom>
          <a:noFill/>
          <a:ln/>
        </p:spPr>
        <p:txBody>
          <a:bodyPr wrap="square" rtlCol="0" anchor="ctr"/>
          <a:lstStyle/>
          <a:p>
            <a:pPr marL="0" indent="0" algn="r">
              <a:buNone/>
            </a:pPr>
            <a:r>
              <a:rPr lang="en-US" sz="1100" dirty="0">
                <a:solidFill>
                  <a:srgbClr val="8A93A8"/>
                </a:solidFill>
                <a:latin typeface="Calibri" pitchFamily="34" charset="0"/>
                <a:ea typeface="Calibri" pitchFamily="34" charset="-122"/>
                <a:cs typeface="Calibri" pitchFamily="34" charset="-120"/>
              </a:rPr>
              <a:t>11</a:t>
            </a:r>
            <a:endParaRPr lang="en-US" sz="1100" dirty="0"/>
          </a:p>
        </p:txBody>
      </p:sp>
    </p:spTree>
    <p:extLst>
      <p:ext uri="{BB962C8B-B14F-4D97-AF65-F5344CB8AC3E}">
        <p14:creationId xmlns:p14="http://schemas.microsoft.com/office/powerpoint/2010/main" val="2386686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1217</Words>
  <Application>Microsoft Office PowerPoint</Application>
  <PresentationFormat>Widescreen</PresentationFormat>
  <Paragraphs>227</Paragraphs>
  <Slides>12</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PharmaStock - Pharmacy Inventory Tracker</dc:title>
  <dc:subject>PptxGenJS Presentation</dc:subject>
  <dc:creator>Tejitha &amp; Harini</dc:creator>
  <cp:lastModifiedBy>Sivaraju Tejitha</cp:lastModifiedBy>
  <cp:revision>3</cp:revision>
  <dcterms:created xsi:type="dcterms:W3CDTF">2026-06-19T09:46:29Z</dcterms:created>
  <dcterms:modified xsi:type="dcterms:W3CDTF">2026-06-19T13:37:38Z</dcterms:modified>
</cp:coreProperties>
</file>